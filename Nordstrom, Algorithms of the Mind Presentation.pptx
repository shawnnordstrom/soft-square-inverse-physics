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6" r:id="rId1"/>
  </p:sldMasterIdLst>
  <p:notesMasterIdLst>
    <p:notesMasterId r:id="rId8"/>
  </p:notesMasterIdLst>
  <p:sldIdLst>
    <p:sldId id="256" r:id="rId2"/>
    <p:sldId id="257" r:id="rId3"/>
    <p:sldId id="280" r:id="rId4"/>
    <p:sldId id="269" r:id="rId5"/>
    <p:sldId id="277" r:id="rId6"/>
    <p:sldId id="279" r:id="rId7"/>
  </p:sldIdLst>
  <p:sldSz cx="9144000" cy="5143500" type="screen16x9"/>
  <p:notesSz cx="6858000" cy="9144000"/>
  <p:embeddedFontLst>
    <p:embeddedFont>
      <p:font typeface="Gowun Batang" pitchFamily="2" charset="-127"/>
      <p:regular r:id="rId9"/>
      <p:bold r:id="rId10"/>
    </p:embeddedFont>
    <p:embeddedFont>
      <p:font typeface="Cambria Math" panose="02040503050406030204" pitchFamily="18" charset="0"/>
      <p:regular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63"/>
    <p:restoredTop sz="77989"/>
  </p:normalViewPr>
  <p:slideViewPr>
    <p:cSldViewPr snapToGrid="0">
      <p:cViewPr varScale="1">
        <p:scale>
          <a:sx n="157" d="100"/>
          <a:sy n="157" d="100"/>
        </p:scale>
        <p:origin x="1520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913e23d1b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913e23d1b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Studying inverse physics for soft bodies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Project question: how well can an inverse-physics model recover soft-material </a:t>
            </a:r>
            <a:r>
              <a:rPr lang="en-US" dirty="0" err="1"/>
              <a:t>latents</a:t>
            </a:r>
            <a:r>
              <a:rPr lang="en-US" dirty="0"/>
              <a:t> compared to a simple feature model?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Inverse physics: inferring hidden physical properties from observed motion</a:t>
            </a:r>
            <a:endParaRPr lang="en-US" dirty="0">
              <a:sym typeface="Wingdings" pitchFamily="2" charset="2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sym typeface="Wingdings" pitchFamily="2" charset="2"/>
              </a:rPr>
              <a:t>We wonder if the mind works in this way</a:t>
            </a:r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913e23d1b9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913e23d1b9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 Bi et </a:t>
            </a:r>
            <a:r>
              <a:rPr lang="en-US" dirty="0" err="1"/>
              <a:t>al.L</a:t>
            </a:r>
            <a:r>
              <a:rPr lang="en-US" dirty="0"/>
              <a:t> cloth simulator + inverse physics to model “same material?” judgments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Generative idea: choose physical parameters theta, run cloth sim </a:t>
            </a:r>
            <a:r>
              <a:rPr lang="en-US" dirty="0">
                <a:sym typeface="Wingdings" pitchFamily="2" charset="2"/>
              </a:rPr>
              <a:t> output video\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sym typeface="Wingdings" pitchFamily="2" charset="2"/>
              </a:rPr>
              <a:t>Inference: given a target video, infer theta that best explains it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sym typeface="Wingdings" pitchFamily="2" charset="2"/>
              </a:rPr>
              <a:t>2AFC: pick the test </a:t>
            </a:r>
            <a:r>
              <a:rPr lang="en-US" dirty="0" err="1">
                <a:sym typeface="Wingdings" pitchFamily="2" charset="2"/>
              </a:rPr>
              <a:t>cip</a:t>
            </a:r>
            <a:r>
              <a:rPr lang="en-US" dirty="0">
                <a:sym typeface="Wingdings" pitchFamily="2" charset="2"/>
              </a:rPr>
              <a:t> whose inferred theta is closest to the target’s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sym typeface="Wingdings" pitchFamily="2" charset="2"/>
              </a:rPr>
              <a:t>Compare to a DNN that maps video straight to an estimated stiffness/mass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913e23d1b9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913e23d1b9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I use a different world: a generalized soft body object in Taichi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 err="1"/>
              <a:t>nxn</a:t>
            </a:r>
            <a:r>
              <a:rPr lang="en-US" dirty="0"/>
              <a:t> lattice of point masses connected by springs </a:t>
            </a:r>
            <a:r>
              <a:rPr lang="en-US" dirty="0">
                <a:sym typeface="Wingdings" pitchFamily="2" charset="2"/>
              </a:rPr>
              <a:t> deformable soft body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sym typeface="Wingdings" pitchFamily="2" charset="2"/>
              </a:rPr>
              <a:t>Latent material parameters: theta = (stiffness, damping)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sym typeface="Wingdings" pitchFamily="2" charset="2"/>
              </a:rPr>
              <a:t>By sweeping theta | generate many impact videos with known ground-truth theta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sym typeface="Wingdings" pitchFamily="2" charset="2"/>
              </a:rPr>
              <a:t>Same idea as Bi et al., but in a minimal, fully controlled world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082720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913e23d1b9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913e23d1b9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Model 1: inverse physics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Prior on theta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Use Gen to infer p(theta | given) </a:t>
            </a:r>
            <a:r>
              <a:rPr lang="en-US" dirty="0">
                <a:sym typeface="Wingdings" pitchFamily="2" charset="2"/>
              </a:rPr>
              <a:t> get </a:t>
            </a:r>
            <a:r>
              <a:rPr lang="en-US" dirty="0" err="1">
                <a:sym typeface="Wingdings" pitchFamily="2" charset="2"/>
              </a:rPr>
              <a:t>theta_phys</a:t>
            </a:r>
            <a:endParaRPr lang="en-US" dirty="0">
              <a:sym typeface="Wingdings" pitchFamily="2" charset="2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sym typeface="Wingdings" pitchFamily="2" charset="2"/>
              </a:rPr>
              <a:t>Also consider a sequential version that updates theta as frames arrives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>
              <a:sym typeface="Wingdings" pitchFamily="2" charset="2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sym typeface="Wingdings" pitchFamily="2" charset="2"/>
              </a:rPr>
              <a:t>Model 2: 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sym typeface="Wingdings" pitchFamily="2" charset="2"/>
              </a:rPr>
              <a:t>No simulator; just compute motion features from each video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sym typeface="Wingdings" pitchFamily="2" charset="2"/>
              </a:rPr>
              <a:t>Learn a regression from features  </a:t>
            </a:r>
            <a:r>
              <a:rPr lang="en-US" dirty="0" err="1">
                <a:sym typeface="Wingdings" pitchFamily="2" charset="2"/>
              </a:rPr>
              <a:t>theta_feat</a:t>
            </a:r>
            <a:endParaRPr lang="en-US" dirty="0">
              <a:sym typeface="Wingdings" pitchFamily="2" charset="2"/>
            </a:endParaRP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sym typeface="Wingdings" pitchFamily="2" charset="2"/>
              </a:rPr>
              <a:t>Same outputs as Model 1, but no explicit physics model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>
              <a:sym typeface="Wingdings" pitchFamily="2" charset="2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sym typeface="Wingdings" pitchFamily="2" charset="2"/>
              </a:rPr>
              <a:t>Evaluation: 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sym typeface="Wingdings" pitchFamily="2" charset="2"/>
              </a:rPr>
              <a:t>On simulated data, compare to ground truth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sym typeface="Wingdings" pitchFamily="2" charset="2"/>
              </a:rPr>
              <a:t>Look at R^2 errors to see when inverse physics beats the feature model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913e23d1b9_0_3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3913e23d1b9_0_3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If people track something like stiffness and damping, their “same material?” choices should line up more with the inverse physics model than the feature model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Why soft bodies </a:t>
            </a:r>
            <a:r>
              <a:rPr lang="en-US" dirty="0">
                <a:sym typeface="Wingdings" pitchFamily="2" charset="2"/>
              </a:rPr>
              <a:t> most intuitive physics work is on rigid blocks, but real life is full of soft stuff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ym typeface="Wingdings" pitchFamily="2" charset="2"/>
              </a:rPr>
              <a:t>Soft bodies are visually messy  strong test of whether we use latent physics or just motion templates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ym typeface="Wingdings" pitchFamily="2" charset="2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ym typeface="Wingdings" pitchFamily="2" charset="2"/>
              </a:rPr>
              <a:t>Future work: 2AFC</a:t>
            </a: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913e23d1b9_0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3913e23d1b9_0_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with header and footer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body" idx="1"/>
          </p:nvPr>
        </p:nvSpPr>
        <p:spPr>
          <a:xfrm>
            <a:off x="228600" y="2856025"/>
            <a:ext cx="18894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2"/>
          </p:nvPr>
        </p:nvSpPr>
        <p:spPr>
          <a:xfrm>
            <a:off x="228600" y="168075"/>
            <a:ext cx="18894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3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title"/>
          </p:nvPr>
        </p:nvSpPr>
        <p:spPr>
          <a:xfrm>
            <a:off x="228600" y="1909750"/>
            <a:ext cx="6232800" cy="94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body" idx="4"/>
          </p:nvPr>
        </p:nvSpPr>
        <p:spPr>
          <a:xfrm>
            <a:off x="2400300" y="2856025"/>
            <a:ext cx="18894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body" idx="5"/>
          </p:nvPr>
        </p:nvSpPr>
        <p:spPr>
          <a:xfrm>
            <a:off x="2400300" y="168075"/>
            <a:ext cx="18894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6"/>
          </p:nvPr>
        </p:nvSpPr>
        <p:spPr>
          <a:xfrm>
            <a:off x="4572000" y="168075"/>
            <a:ext cx="18894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body" idx="7"/>
          </p:nvPr>
        </p:nvSpPr>
        <p:spPr>
          <a:xfrm>
            <a:off x="6743700" y="168075"/>
            <a:ext cx="18894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cxnSp>
        <p:nvCxnSpPr>
          <p:cNvPr id="19" name="Google Shape;19;p2"/>
          <p:cNvCxnSpPr/>
          <p:nvPr/>
        </p:nvCxnSpPr>
        <p:spPr>
          <a:xfrm rot="10800000" flipH="1">
            <a:off x="225750" y="4678950"/>
            <a:ext cx="8692500" cy="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144">
          <p15:clr>
            <a:srgbClr val="E46962"/>
          </p15:clr>
        </p15:guide>
        <p15:guide id="4" pos="1512">
          <p15:clr>
            <a:srgbClr val="E46962"/>
          </p15:clr>
        </p15:guide>
        <p15:guide id="5" pos="4248">
          <p15:clr>
            <a:srgbClr val="E46962"/>
          </p15:clr>
        </p15:guide>
        <p15:guide id="6" pos="5616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228600" y="1909750"/>
            <a:ext cx="6232800" cy="94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cxnSp>
        <p:nvCxnSpPr>
          <p:cNvPr id="23" name="Google Shape;23;p3"/>
          <p:cNvCxnSpPr/>
          <p:nvPr/>
        </p:nvCxnSpPr>
        <p:spPr>
          <a:xfrm rot="10800000" flipH="1">
            <a:off x="225750" y="4678950"/>
            <a:ext cx="8692500" cy="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>
            <a:off x="228600" y="2866225"/>
            <a:ext cx="6232800" cy="64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144">
          <p15:clr>
            <a:srgbClr val="E46962"/>
          </p15:clr>
        </p15:guide>
        <p15:guide id="4" pos="1512">
          <p15:clr>
            <a:srgbClr val="E46962"/>
          </p15:clr>
        </p15:guide>
        <p15:guide id="5" pos="4248">
          <p15:clr>
            <a:srgbClr val="E46962"/>
          </p15:clr>
        </p15:guide>
        <p15:guide id="6" pos="5616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1_1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228600" y="2856025"/>
            <a:ext cx="18894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228600" y="1909750"/>
            <a:ext cx="6232800" cy="94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cxnSp>
        <p:nvCxnSpPr>
          <p:cNvPr id="29" name="Google Shape;29;p4"/>
          <p:cNvCxnSpPr/>
          <p:nvPr/>
        </p:nvCxnSpPr>
        <p:spPr>
          <a:xfrm rot="10800000" flipH="1">
            <a:off x="225750" y="4678950"/>
            <a:ext cx="8692500" cy="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144">
          <p15:clr>
            <a:srgbClr val="E46962"/>
          </p15:clr>
        </p15:guide>
        <p15:guide id="4" pos="1512">
          <p15:clr>
            <a:srgbClr val="E46962"/>
          </p15:clr>
        </p15:guide>
        <p15:guide id="5" pos="4248">
          <p15:clr>
            <a:srgbClr val="E46962"/>
          </p15:clr>
        </p15:guide>
        <p15:guide id="6" pos="5616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with footer" type="twoColTx">
  <p:cSld name="TITLE_AND_TWO_COLUMN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229450" y="3455951"/>
            <a:ext cx="2834100" cy="10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ubTitle" idx="2"/>
          </p:nvPr>
        </p:nvSpPr>
        <p:spPr>
          <a:xfrm>
            <a:off x="229450" y="3127850"/>
            <a:ext cx="28341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3"/>
          </p:nvPr>
        </p:nvSpPr>
        <p:spPr>
          <a:xfrm>
            <a:off x="3155800" y="3455951"/>
            <a:ext cx="2834100" cy="10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ubTitle" idx="4"/>
          </p:nvPr>
        </p:nvSpPr>
        <p:spPr>
          <a:xfrm>
            <a:off x="3155800" y="3127850"/>
            <a:ext cx="28341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body" idx="5"/>
          </p:nvPr>
        </p:nvSpPr>
        <p:spPr>
          <a:xfrm>
            <a:off x="6082150" y="3455951"/>
            <a:ext cx="2834100" cy="10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ubTitle" idx="6"/>
          </p:nvPr>
        </p:nvSpPr>
        <p:spPr>
          <a:xfrm>
            <a:off x="6082150" y="3127850"/>
            <a:ext cx="28341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7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cxnSp>
        <p:nvCxnSpPr>
          <p:cNvPr id="54" name="Google Shape;54;p7"/>
          <p:cNvCxnSpPr/>
          <p:nvPr/>
        </p:nvCxnSpPr>
        <p:spPr>
          <a:xfrm rot="10800000" flipH="1">
            <a:off x="225750" y="4678950"/>
            <a:ext cx="8692500" cy="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ITLE_AND_TWO_COLUMNS_1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body" idx="1"/>
          </p:nvPr>
        </p:nvSpPr>
        <p:spPr>
          <a:xfrm>
            <a:off x="229450" y="3455951"/>
            <a:ext cx="2834100" cy="10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subTitle" idx="2"/>
          </p:nvPr>
        </p:nvSpPr>
        <p:spPr>
          <a:xfrm>
            <a:off x="229450" y="3127850"/>
            <a:ext cx="28341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body" idx="3"/>
          </p:nvPr>
        </p:nvSpPr>
        <p:spPr>
          <a:xfrm>
            <a:off x="3155800" y="3455951"/>
            <a:ext cx="2834100" cy="10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subTitle" idx="4"/>
          </p:nvPr>
        </p:nvSpPr>
        <p:spPr>
          <a:xfrm>
            <a:off x="3155800" y="3127850"/>
            <a:ext cx="28341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body" idx="5"/>
          </p:nvPr>
        </p:nvSpPr>
        <p:spPr>
          <a:xfrm>
            <a:off x="6082150" y="3455951"/>
            <a:ext cx="2834100" cy="10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ubTitle" idx="6"/>
          </p:nvPr>
        </p:nvSpPr>
        <p:spPr>
          <a:xfrm>
            <a:off x="6082150" y="3127850"/>
            <a:ext cx="28341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9pPr>
          </a:lstStyle>
          <a:p>
            <a:endParaRPr/>
          </a:p>
        </p:txBody>
      </p:sp>
      <p:cxnSp>
        <p:nvCxnSpPr>
          <p:cNvPr id="64" name="Google Shape;64;p8"/>
          <p:cNvCxnSpPr/>
          <p:nvPr/>
        </p:nvCxnSpPr>
        <p:spPr>
          <a:xfrm rot="10800000" flipH="1">
            <a:off x="225750" y="4678950"/>
            <a:ext cx="8692500" cy="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TITLE_AND_TWO_COLUMNS_1_2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68" name="Google Shape;68;p9"/>
          <p:cNvCxnSpPr/>
          <p:nvPr/>
        </p:nvCxnSpPr>
        <p:spPr>
          <a:xfrm rot="10800000" flipH="1">
            <a:off x="225750" y="4678950"/>
            <a:ext cx="8692500" cy="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2400300" y="2448075"/>
            <a:ext cx="1889400" cy="20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body" idx="2"/>
          </p:nvPr>
        </p:nvSpPr>
        <p:spPr>
          <a:xfrm>
            <a:off x="228600" y="2448075"/>
            <a:ext cx="1889400" cy="20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body" idx="3"/>
          </p:nvPr>
        </p:nvSpPr>
        <p:spPr>
          <a:xfrm>
            <a:off x="4572000" y="2448075"/>
            <a:ext cx="1889400" cy="20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body" idx="4"/>
          </p:nvPr>
        </p:nvSpPr>
        <p:spPr>
          <a:xfrm>
            <a:off x="6743700" y="2448075"/>
            <a:ext cx="1889400" cy="20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subTitle" idx="5"/>
          </p:nvPr>
        </p:nvSpPr>
        <p:spPr>
          <a:xfrm>
            <a:off x="229450" y="2123775"/>
            <a:ext cx="18894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subTitle" idx="6"/>
          </p:nvPr>
        </p:nvSpPr>
        <p:spPr>
          <a:xfrm>
            <a:off x="2400300" y="2123775"/>
            <a:ext cx="18894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subTitle" idx="7"/>
          </p:nvPr>
        </p:nvSpPr>
        <p:spPr>
          <a:xfrm>
            <a:off x="4572000" y="2123775"/>
            <a:ext cx="18894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subTitle" idx="8"/>
          </p:nvPr>
        </p:nvSpPr>
        <p:spPr>
          <a:xfrm>
            <a:off x="6743700" y="2123775"/>
            <a:ext cx="18894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one column text">
  <p:cSld name="TITLE_AND_TWO_COLUMNS_1_2_1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title"/>
          </p:nvPr>
        </p:nvSpPr>
        <p:spPr>
          <a:xfrm>
            <a:off x="229450" y="164350"/>
            <a:ext cx="5541900" cy="183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cxnSp>
        <p:nvCxnSpPr>
          <p:cNvPr id="80" name="Google Shape;80;p10"/>
          <p:cNvCxnSpPr/>
          <p:nvPr/>
        </p:nvCxnSpPr>
        <p:spPr>
          <a:xfrm rot="10800000" flipH="1">
            <a:off x="225750" y="4678950"/>
            <a:ext cx="8692500" cy="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228600" y="2448075"/>
            <a:ext cx="5541900" cy="20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subTitle" idx="2"/>
          </p:nvPr>
        </p:nvSpPr>
        <p:spPr>
          <a:xfrm>
            <a:off x="228600" y="1798275"/>
            <a:ext cx="5541900" cy="64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ITLE_AND_TWO_COLUMNS_1_1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body" idx="1"/>
          </p:nvPr>
        </p:nvSpPr>
        <p:spPr>
          <a:xfrm>
            <a:off x="229450" y="3455950"/>
            <a:ext cx="4061100" cy="10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subTitle" idx="2"/>
          </p:nvPr>
        </p:nvSpPr>
        <p:spPr>
          <a:xfrm>
            <a:off x="229450" y="3127850"/>
            <a:ext cx="40611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9pPr>
          </a:lstStyle>
          <a:p>
            <a:endParaRPr/>
          </a:p>
        </p:txBody>
      </p:sp>
      <p:cxnSp>
        <p:nvCxnSpPr>
          <p:cNvPr id="88" name="Google Shape;88;p11"/>
          <p:cNvCxnSpPr/>
          <p:nvPr/>
        </p:nvCxnSpPr>
        <p:spPr>
          <a:xfrm rot="10800000" flipH="1">
            <a:off x="225750" y="4678950"/>
            <a:ext cx="8692500" cy="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" name="Google Shape;89;p11"/>
          <p:cNvSpPr txBox="1">
            <a:spLocks noGrp="1"/>
          </p:cNvSpPr>
          <p:nvPr>
            <p:ph type="body" idx="3"/>
          </p:nvPr>
        </p:nvSpPr>
        <p:spPr>
          <a:xfrm>
            <a:off x="4573675" y="3455950"/>
            <a:ext cx="4061100" cy="10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subTitle" idx="4"/>
          </p:nvPr>
        </p:nvSpPr>
        <p:spPr>
          <a:xfrm>
            <a:off x="4573675" y="3127850"/>
            <a:ext cx="40611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 type="titleOnly">
  <p:cSld name="TITLE_ONLY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title"/>
          </p:nvPr>
        </p:nvSpPr>
        <p:spPr>
          <a:xfrm>
            <a:off x="229450" y="164350"/>
            <a:ext cx="8686800" cy="338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body" idx="1"/>
          </p:nvPr>
        </p:nvSpPr>
        <p:spPr>
          <a:xfrm>
            <a:off x="228600" y="3868750"/>
            <a:ext cx="1889400" cy="64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body" idx="2"/>
          </p:nvPr>
        </p:nvSpPr>
        <p:spPr>
          <a:xfrm>
            <a:off x="2400300" y="3868750"/>
            <a:ext cx="1889400" cy="64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body" idx="3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body" idx="4"/>
          </p:nvPr>
        </p:nvSpPr>
        <p:spPr>
          <a:xfrm>
            <a:off x="6743700" y="3868750"/>
            <a:ext cx="1889400" cy="64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body" idx="5"/>
          </p:nvPr>
        </p:nvSpPr>
        <p:spPr>
          <a:xfrm>
            <a:off x="4572000" y="3868750"/>
            <a:ext cx="1889400" cy="64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cxnSp>
        <p:nvCxnSpPr>
          <p:cNvPr id="106" name="Google Shape;106;p13"/>
          <p:cNvCxnSpPr/>
          <p:nvPr/>
        </p:nvCxnSpPr>
        <p:spPr>
          <a:xfrm rot="10800000" flipH="1">
            <a:off x="225750" y="4678950"/>
            <a:ext cx="8692500" cy="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TITLE_ONLY_1_1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15"/>
          <p:cNvSpPr txBox="1">
            <a:spLocks noGrp="1"/>
          </p:cNvSpPr>
          <p:nvPr>
            <p:ph type="subTitle" idx="1"/>
          </p:nvPr>
        </p:nvSpPr>
        <p:spPr>
          <a:xfrm>
            <a:off x="1456800" y="1790719"/>
            <a:ext cx="1889400" cy="109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5"/>
          <p:cNvSpPr txBox="1">
            <a:spLocks noGrp="1"/>
          </p:cNvSpPr>
          <p:nvPr>
            <p:ph type="subTitle" idx="2"/>
          </p:nvPr>
        </p:nvSpPr>
        <p:spPr>
          <a:xfrm>
            <a:off x="3628150" y="1790719"/>
            <a:ext cx="1889400" cy="109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5"/>
          <p:cNvSpPr txBox="1">
            <a:spLocks noGrp="1"/>
          </p:cNvSpPr>
          <p:nvPr>
            <p:ph type="subTitle" idx="3"/>
          </p:nvPr>
        </p:nvSpPr>
        <p:spPr>
          <a:xfrm>
            <a:off x="5799500" y="1790719"/>
            <a:ext cx="1889400" cy="109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5"/>
          <p:cNvSpPr txBox="1">
            <a:spLocks noGrp="1"/>
          </p:cNvSpPr>
          <p:nvPr>
            <p:ph type="subTitle" idx="4"/>
          </p:nvPr>
        </p:nvSpPr>
        <p:spPr>
          <a:xfrm>
            <a:off x="5799500" y="3234832"/>
            <a:ext cx="1889400" cy="109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cxnSp>
        <p:nvCxnSpPr>
          <p:cNvPr id="125" name="Google Shape;125;p15"/>
          <p:cNvCxnSpPr/>
          <p:nvPr/>
        </p:nvCxnSpPr>
        <p:spPr>
          <a:xfrm rot="10800000" flipH="1">
            <a:off x="225750" y="4678950"/>
            <a:ext cx="8692500" cy="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" name="Google Shape;126;p15"/>
          <p:cNvSpPr txBox="1">
            <a:spLocks noGrp="1"/>
          </p:cNvSpPr>
          <p:nvPr>
            <p:ph type="subTitle" idx="5"/>
          </p:nvPr>
        </p:nvSpPr>
        <p:spPr>
          <a:xfrm>
            <a:off x="1456800" y="3234832"/>
            <a:ext cx="1889400" cy="109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5"/>
          <p:cNvSpPr txBox="1">
            <a:spLocks noGrp="1"/>
          </p:cNvSpPr>
          <p:nvPr>
            <p:ph type="subTitle" idx="6"/>
          </p:nvPr>
        </p:nvSpPr>
        <p:spPr>
          <a:xfrm>
            <a:off x="3628150" y="3234832"/>
            <a:ext cx="1889400" cy="109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5"/>
          <p:cNvSpPr txBox="1">
            <a:spLocks noGrp="1"/>
          </p:cNvSpPr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main point">
  <p:cSld name="CUSTOM_10">
    <p:bg>
      <p:bgPr>
        <a:solidFill>
          <a:schemeClr val="dk1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>
            <a:spLocks noGrp="1"/>
          </p:cNvSpPr>
          <p:nvPr>
            <p:ph type="title"/>
          </p:nvPr>
        </p:nvSpPr>
        <p:spPr>
          <a:xfrm>
            <a:off x="225750" y="369625"/>
            <a:ext cx="8692500" cy="431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8"/>
          <p:cNvSpPr txBox="1">
            <a:spLocks noGrp="1"/>
          </p:cNvSpPr>
          <p:nvPr>
            <p:ph type="title" idx="2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8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49" name="Google Shape;149;p18"/>
          <p:cNvCxnSpPr/>
          <p:nvPr/>
        </p:nvCxnSpPr>
        <p:spPr>
          <a:xfrm rot="10800000" flipH="1">
            <a:off x="225750" y="4678950"/>
            <a:ext cx="8692500" cy="57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CUSTOM_7_1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1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4" name="Google Shape;164;p21"/>
          <p:cNvSpPr/>
          <p:nvPr/>
        </p:nvSpPr>
        <p:spPr>
          <a:xfrm>
            <a:off x="7005675" y="789050"/>
            <a:ext cx="1582800" cy="1582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title"/>
          </p:nvPr>
        </p:nvSpPr>
        <p:spPr>
          <a:xfrm>
            <a:off x="228600" y="665825"/>
            <a:ext cx="5753400" cy="22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21"/>
          <p:cNvSpPr>
            <a:spLocks noGrp="1"/>
          </p:cNvSpPr>
          <p:nvPr>
            <p:ph type="pic" idx="2"/>
          </p:nvPr>
        </p:nvSpPr>
        <p:spPr>
          <a:xfrm>
            <a:off x="6777063" y="1017650"/>
            <a:ext cx="1582800" cy="1582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67" name="Google Shape;167;p21"/>
          <p:cNvCxnSpPr/>
          <p:nvPr/>
        </p:nvCxnSpPr>
        <p:spPr>
          <a:xfrm rot="10800000" flipH="1">
            <a:off x="225750" y="4678950"/>
            <a:ext cx="8692500" cy="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_8_1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5" name="Google Shape;175;p23"/>
          <p:cNvCxnSpPr/>
          <p:nvPr/>
        </p:nvCxnSpPr>
        <p:spPr>
          <a:xfrm rot="10800000" flipH="1">
            <a:off x="225750" y="4678950"/>
            <a:ext cx="8692500" cy="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6" name="Google Shape;176;p23"/>
          <p:cNvSpPr txBox="1">
            <a:spLocks noGrp="1"/>
          </p:cNvSpPr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CUSTOM_8_1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4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9" name="Google Shape;179;p24"/>
          <p:cNvCxnSpPr/>
          <p:nvPr/>
        </p:nvCxnSpPr>
        <p:spPr>
          <a:xfrm rot="10800000" flipH="1">
            <a:off x="225750" y="4678950"/>
            <a:ext cx="8692500" cy="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0" name="Google Shape;180;p24"/>
          <p:cNvSpPr txBox="1">
            <a:spLocks noGrp="1"/>
          </p:cNvSpPr>
          <p:nvPr>
            <p:ph type="title"/>
          </p:nvPr>
        </p:nvSpPr>
        <p:spPr>
          <a:xfrm>
            <a:off x="228600" y="2236650"/>
            <a:ext cx="3551400" cy="67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section title and description">
  <p:cSld name="ONE_COLUMN_TEXT_2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6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9" name="Google Shape;189;p26"/>
          <p:cNvSpPr txBox="1">
            <a:spLocks noGrp="1"/>
          </p:cNvSpPr>
          <p:nvPr>
            <p:ph type="title"/>
          </p:nvPr>
        </p:nvSpPr>
        <p:spPr>
          <a:xfrm>
            <a:off x="228600" y="2236650"/>
            <a:ext cx="3551400" cy="67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190" name="Google Shape;190;p26"/>
          <p:cNvSpPr txBox="1">
            <a:spLocks noGrp="1"/>
          </p:cNvSpPr>
          <p:nvPr>
            <p:ph type="subTitle" idx="1"/>
          </p:nvPr>
        </p:nvSpPr>
        <p:spPr>
          <a:xfrm>
            <a:off x="4572000" y="1004700"/>
            <a:ext cx="4343400" cy="313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cxnSp>
        <p:nvCxnSpPr>
          <p:cNvPr id="191" name="Google Shape;191;p26"/>
          <p:cNvCxnSpPr/>
          <p:nvPr/>
        </p:nvCxnSpPr>
        <p:spPr>
          <a:xfrm rot="10800000" flipH="1">
            <a:off x="225750" y="4678950"/>
            <a:ext cx="8692500" cy="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with footer">
  <p:cSld name="CUSTOM_4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8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28"/>
          <p:cNvSpPr txBox="1">
            <a:spLocks noGrp="1"/>
          </p:cNvSpPr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202" name="Google Shape;202;p28"/>
          <p:cNvSpPr txBox="1">
            <a:spLocks noGrp="1"/>
          </p:cNvSpPr>
          <p:nvPr>
            <p:ph type="body" idx="1"/>
          </p:nvPr>
        </p:nvSpPr>
        <p:spPr>
          <a:xfrm>
            <a:off x="229450" y="1294950"/>
            <a:ext cx="3566100" cy="28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203" name="Google Shape;203;p28"/>
          <p:cNvSpPr txBox="1">
            <a:spLocks noGrp="1"/>
          </p:cNvSpPr>
          <p:nvPr>
            <p:ph type="body" idx="2"/>
          </p:nvPr>
        </p:nvSpPr>
        <p:spPr>
          <a:xfrm>
            <a:off x="4572850" y="1294950"/>
            <a:ext cx="3566100" cy="28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204" name="Google Shape;204;p28"/>
          <p:cNvSpPr txBox="1">
            <a:spLocks noGrp="1"/>
          </p:cNvSpPr>
          <p:nvPr>
            <p:ph type="body" idx="3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cxnSp>
        <p:nvCxnSpPr>
          <p:cNvPr id="205" name="Google Shape;205;p28"/>
          <p:cNvCxnSpPr/>
          <p:nvPr/>
        </p:nvCxnSpPr>
        <p:spPr>
          <a:xfrm rot="10800000" flipH="1">
            <a:off x="225750" y="4678950"/>
            <a:ext cx="8692500" cy="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CUSTOM_4_1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9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8" name="Google Shape;208;p29"/>
          <p:cNvSpPr txBox="1">
            <a:spLocks noGrp="1"/>
          </p:cNvSpPr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209" name="Google Shape;209;p29"/>
          <p:cNvSpPr txBox="1">
            <a:spLocks noGrp="1"/>
          </p:cNvSpPr>
          <p:nvPr>
            <p:ph type="body" idx="1"/>
          </p:nvPr>
        </p:nvSpPr>
        <p:spPr>
          <a:xfrm>
            <a:off x="229450" y="1294950"/>
            <a:ext cx="3566100" cy="28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210" name="Google Shape;210;p29"/>
          <p:cNvSpPr txBox="1">
            <a:spLocks noGrp="1"/>
          </p:cNvSpPr>
          <p:nvPr>
            <p:ph type="body" idx="2"/>
          </p:nvPr>
        </p:nvSpPr>
        <p:spPr>
          <a:xfrm>
            <a:off x="4572850" y="1294950"/>
            <a:ext cx="3566100" cy="28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cxnSp>
        <p:nvCxnSpPr>
          <p:cNvPr id="211" name="Google Shape;211;p29"/>
          <p:cNvCxnSpPr/>
          <p:nvPr/>
        </p:nvCxnSpPr>
        <p:spPr>
          <a:xfrm rot="10800000" flipH="1">
            <a:off x="225750" y="4678950"/>
            <a:ext cx="8692500" cy="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_1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49" name="Google Shape;249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title, body and image">
  <p:cSld name="CUSTOM_1_1_1_1_1_1_2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7"/>
          <p:cNvSpPr>
            <a:spLocks noGrp="1"/>
          </p:cNvSpPr>
          <p:nvPr>
            <p:ph type="pic" idx="2"/>
          </p:nvPr>
        </p:nvSpPr>
        <p:spPr>
          <a:xfrm>
            <a:off x="3161800" y="164350"/>
            <a:ext cx="57513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266" name="Google Shape;266;p37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7" name="Google Shape;267;p37"/>
          <p:cNvSpPr txBox="1">
            <a:spLocks noGrp="1"/>
          </p:cNvSpPr>
          <p:nvPr>
            <p:ph type="body" idx="1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268" name="Google Shape;268;p37"/>
          <p:cNvSpPr txBox="1">
            <a:spLocks noGrp="1"/>
          </p:cNvSpPr>
          <p:nvPr>
            <p:ph type="body" idx="3"/>
          </p:nvPr>
        </p:nvSpPr>
        <p:spPr>
          <a:xfrm>
            <a:off x="228600" y="3719575"/>
            <a:ext cx="2171400" cy="74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cxnSp>
        <p:nvCxnSpPr>
          <p:cNvPr id="269" name="Google Shape;269;p37"/>
          <p:cNvCxnSpPr/>
          <p:nvPr/>
        </p:nvCxnSpPr>
        <p:spPr>
          <a:xfrm rot="10800000" flipH="1">
            <a:off x="225750" y="4678950"/>
            <a:ext cx="8692500" cy="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0" name="Google Shape;270;p37"/>
          <p:cNvSpPr txBox="1">
            <a:spLocks noGrp="1"/>
          </p:cNvSpPr>
          <p:nvPr>
            <p:ph type="title"/>
          </p:nvPr>
        </p:nvSpPr>
        <p:spPr>
          <a:xfrm>
            <a:off x="228600" y="164350"/>
            <a:ext cx="2670300" cy="287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_1_1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3" name="Google Shape;273;p3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4" name="Google Shape;274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_1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3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78" name="Google Shape;278;p3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9" name="Google Shape;279;p3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0" name="Google Shape;280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CUSTOM_8_1_2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3" name="Google Shape;283;p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284" name="Google Shape;284;p40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CUSTOM_11"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1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8" name="Google Shape;288;p41"/>
          <p:cNvSpPr>
            <a:spLocks noGrp="1"/>
          </p:cNvSpPr>
          <p:nvPr>
            <p:ph type="pic" idx="2"/>
          </p:nvPr>
        </p:nvSpPr>
        <p:spPr>
          <a:xfrm>
            <a:off x="4633050" y="1196050"/>
            <a:ext cx="4282500" cy="1761000"/>
          </a:xfrm>
          <a:prstGeom prst="rect">
            <a:avLst/>
          </a:prstGeom>
          <a:noFill/>
          <a:ln>
            <a:noFill/>
          </a:ln>
        </p:spPr>
      </p:sp>
      <p:sp>
        <p:nvSpPr>
          <p:cNvPr id="289" name="Google Shape;289;p41"/>
          <p:cNvSpPr>
            <a:spLocks noGrp="1"/>
          </p:cNvSpPr>
          <p:nvPr>
            <p:ph type="pic" idx="3"/>
          </p:nvPr>
        </p:nvSpPr>
        <p:spPr>
          <a:xfrm>
            <a:off x="228600" y="1196050"/>
            <a:ext cx="4282500" cy="17610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290" name="Google Shape;290;p41"/>
          <p:cNvCxnSpPr/>
          <p:nvPr/>
        </p:nvCxnSpPr>
        <p:spPr>
          <a:xfrm rot="10800000" flipH="1">
            <a:off x="225750" y="4678950"/>
            <a:ext cx="8692500" cy="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1" name="Google Shape;291;p41"/>
          <p:cNvSpPr txBox="1">
            <a:spLocks noGrp="1"/>
          </p:cNvSpPr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41"/>
          <p:cNvSpPr txBox="1">
            <a:spLocks noGrp="1"/>
          </p:cNvSpPr>
          <p:nvPr>
            <p:ph type="body" idx="1"/>
          </p:nvPr>
        </p:nvSpPr>
        <p:spPr>
          <a:xfrm>
            <a:off x="229450" y="3455950"/>
            <a:ext cx="4061100" cy="10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293" name="Google Shape;293;p41"/>
          <p:cNvSpPr txBox="1">
            <a:spLocks noGrp="1"/>
          </p:cNvSpPr>
          <p:nvPr>
            <p:ph type="subTitle" idx="4"/>
          </p:nvPr>
        </p:nvSpPr>
        <p:spPr>
          <a:xfrm>
            <a:off x="229450" y="3127850"/>
            <a:ext cx="40611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9pPr>
          </a:lstStyle>
          <a:p>
            <a:endParaRPr/>
          </a:p>
        </p:txBody>
      </p:sp>
      <p:sp>
        <p:nvSpPr>
          <p:cNvPr id="294" name="Google Shape;294;p41"/>
          <p:cNvSpPr txBox="1">
            <a:spLocks noGrp="1"/>
          </p:cNvSpPr>
          <p:nvPr>
            <p:ph type="body" idx="5"/>
          </p:nvPr>
        </p:nvSpPr>
        <p:spPr>
          <a:xfrm>
            <a:off x="4633050" y="3455950"/>
            <a:ext cx="4061100" cy="10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295" name="Google Shape;295;p41"/>
          <p:cNvSpPr txBox="1">
            <a:spLocks noGrp="1"/>
          </p:cNvSpPr>
          <p:nvPr>
            <p:ph type="subTitle" idx="6"/>
          </p:nvPr>
        </p:nvSpPr>
        <p:spPr>
          <a:xfrm>
            <a:off x="4633050" y="3127850"/>
            <a:ext cx="40611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CUSTOM_11_1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2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98" name="Google Shape;298;p42"/>
          <p:cNvCxnSpPr/>
          <p:nvPr/>
        </p:nvCxnSpPr>
        <p:spPr>
          <a:xfrm rot="10800000" flipH="1">
            <a:off x="225750" y="4678950"/>
            <a:ext cx="8692500" cy="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9" name="Google Shape;299;p42"/>
          <p:cNvSpPr txBox="1">
            <a:spLocks noGrp="1"/>
          </p:cNvSpPr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42"/>
          <p:cNvSpPr>
            <a:spLocks noGrp="1"/>
          </p:cNvSpPr>
          <p:nvPr>
            <p:ph type="pic" idx="2"/>
          </p:nvPr>
        </p:nvSpPr>
        <p:spPr>
          <a:xfrm>
            <a:off x="228600" y="1196050"/>
            <a:ext cx="2820300" cy="1761000"/>
          </a:xfrm>
          <a:prstGeom prst="rect">
            <a:avLst/>
          </a:prstGeom>
          <a:noFill/>
          <a:ln>
            <a:noFill/>
          </a:ln>
        </p:spPr>
      </p:sp>
      <p:sp>
        <p:nvSpPr>
          <p:cNvPr id="301" name="Google Shape;301;p42"/>
          <p:cNvSpPr>
            <a:spLocks noGrp="1"/>
          </p:cNvSpPr>
          <p:nvPr>
            <p:ph type="pic" idx="3"/>
          </p:nvPr>
        </p:nvSpPr>
        <p:spPr>
          <a:xfrm>
            <a:off x="3161800" y="1196050"/>
            <a:ext cx="2820300" cy="1761000"/>
          </a:xfrm>
          <a:prstGeom prst="rect">
            <a:avLst/>
          </a:prstGeom>
          <a:noFill/>
          <a:ln>
            <a:noFill/>
          </a:ln>
        </p:spPr>
      </p:sp>
      <p:sp>
        <p:nvSpPr>
          <p:cNvPr id="302" name="Google Shape;302;p42"/>
          <p:cNvSpPr>
            <a:spLocks noGrp="1"/>
          </p:cNvSpPr>
          <p:nvPr>
            <p:ph type="pic" idx="4"/>
          </p:nvPr>
        </p:nvSpPr>
        <p:spPr>
          <a:xfrm>
            <a:off x="6095000" y="1196050"/>
            <a:ext cx="2820300" cy="1761000"/>
          </a:xfrm>
          <a:prstGeom prst="rect">
            <a:avLst/>
          </a:prstGeom>
          <a:noFill/>
          <a:ln>
            <a:noFill/>
          </a:ln>
        </p:spPr>
      </p:sp>
      <p:sp>
        <p:nvSpPr>
          <p:cNvPr id="303" name="Google Shape;303;p42"/>
          <p:cNvSpPr txBox="1">
            <a:spLocks noGrp="1"/>
          </p:cNvSpPr>
          <p:nvPr>
            <p:ph type="body" idx="1"/>
          </p:nvPr>
        </p:nvSpPr>
        <p:spPr>
          <a:xfrm>
            <a:off x="229450" y="3455951"/>
            <a:ext cx="2834100" cy="10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304" name="Google Shape;304;p42"/>
          <p:cNvSpPr txBox="1">
            <a:spLocks noGrp="1"/>
          </p:cNvSpPr>
          <p:nvPr>
            <p:ph type="subTitle" idx="5"/>
          </p:nvPr>
        </p:nvSpPr>
        <p:spPr>
          <a:xfrm>
            <a:off x="229450" y="3127850"/>
            <a:ext cx="28341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9pPr>
          </a:lstStyle>
          <a:p>
            <a:endParaRPr/>
          </a:p>
        </p:txBody>
      </p:sp>
      <p:sp>
        <p:nvSpPr>
          <p:cNvPr id="305" name="Google Shape;305;p42"/>
          <p:cNvSpPr txBox="1">
            <a:spLocks noGrp="1"/>
          </p:cNvSpPr>
          <p:nvPr>
            <p:ph type="body" idx="6"/>
          </p:nvPr>
        </p:nvSpPr>
        <p:spPr>
          <a:xfrm>
            <a:off x="3155800" y="3455951"/>
            <a:ext cx="2834100" cy="10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306" name="Google Shape;306;p42"/>
          <p:cNvSpPr txBox="1">
            <a:spLocks noGrp="1"/>
          </p:cNvSpPr>
          <p:nvPr>
            <p:ph type="subTitle" idx="7"/>
          </p:nvPr>
        </p:nvSpPr>
        <p:spPr>
          <a:xfrm>
            <a:off x="3155800" y="3127850"/>
            <a:ext cx="28341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9pPr>
          </a:lstStyle>
          <a:p>
            <a:endParaRPr/>
          </a:p>
        </p:txBody>
      </p:sp>
      <p:sp>
        <p:nvSpPr>
          <p:cNvPr id="307" name="Google Shape;307;p42"/>
          <p:cNvSpPr txBox="1">
            <a:spLocks noGrp="1"/>
          </p:cNvSpPr>
          <p:nvPr>
            <p:ph type="body" idx="8"/>
          </p:nvPr>
        </p:nvSpPr>
        <p:spPr>
          <a:xfrm>
            <a:off x="6082150" y="3455951"/>
            <a:ext cx="2834100" cy="10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308" name="Google Shape;308;p42"/>
          <p:cNvSpPr txBox="1">
            <a:spLocks noGrp="1"/>
          </p:cNvSpPr>
          <p:nvPr>
            <p:ph type="subTitle" idx="9"/>
          </p:nvPr>
        </p:nvSpPr>
        <p:spPr>
          <a:xfrm>
            <a:off x="6082150" y="3127850"/>
            <a:ext cx="28341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CUSTOM_1_1_1_1_1_1_1_1"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4"/>
          <p:cNvSpPr>
            <a:spLocks noGrp="1"/>
          </p:cNvSpPr>
          <p:nvPr>
            <p:ph type="pic" idx="2"/>
          </p:nvPr>
        </p:nvSpPr>
        <p:spPr>
          <a:xfrm>
            <a:off x="228600" y="164350"/>
            <a:ext cx="86844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316" name="Google Shape;316;p44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17" name="Google Shape;317;p44"/>
          <p:cNvCxnSpPr/>
          <p:nvPr/>
        </p:nvCxnSpPr>
        <p:spPr>
          <a:xfrm rot="10800000" flipH="1">
            <a:off x="225750" y="4678950"/>
            <a:ext cx="8692500" cy="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CUSTOM_1_1_1_1_1_1_1_1_1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5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20" name="Google Shape;320;p45"/>
          <p:cNvCxnSpPr/>
          <p:nvPr/>
        </p:nvCxnSpPr>
        <p:spPr>
          <a:xfrm rot="10800000" flipH="1">
            <a:off x="225750" y="4678950"/>
            <a:ext cx="8692500" cy="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1" name="Google Shape;321;p45"/>
          <p:cNvSpPr txBox="1">
            <a:spLocks noGrp="1"/>
          </p:cNvSpPr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2" name="Google Shape;322;p45"/>
          <p:cNvSpPr>
            <a:spLocks noGrp="1"/>
          </p:cNvSpPr>
          <p:nvPr>
            <p:ph type="pic" idx="2"/>
          </p:nvPr>
        </p:nvSpPr>
        <p:spPr>
          <a:xfrm>
            <a:off x="228600" y="2598025"/>
            <a:ext cx="2024400" cy="18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23" name="Google Shape;323;p45"/>
          <p:cNvSpPr>
            <a:spLocks noGrp="1"/>
          </p:cNvSpPr>
          <p:nvPr>
            <p:ph type="pic" idx="3"/>
          </p:nvPr>
        </p:nvSpPr>
        <p:spPr>
          <a:xfrm>
            <a:off x="3864875" y="2598025"/>
            <a:ext cx="3561900" cy="18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45"/>
          <p:cNvSpPr>
            <a:spLocks noGrp="1"/>
          </p:cNvSpPr>
          <p:nvPr>
            <p:ph type="pic" idx="4"/>
          </p:nvPr>
        </p:nvSpPr>
        <p:spPr>
          <a:xfrm>
            <a:off x="7547700" y="2598025"/>
            <a:ext cx="1367700" cy="18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45"/>
          <p:cNvSpPr>
            <a:spLocks noGrp="1"/>
          </p:cNvSpPr>
          <p:nvPr>
            <p:ph type="pic" idx="5"/>
          </p:nvPr>
        </p:nvSpPr>
        <p:spPr>
          <a:xfrm>
            <a:off x="2375088" y="2598025"/>
            <a:ext cx="1367700" cy="18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26" name="Google Shape;326;p45"/>
          <p:cNvSpPr>
            <a:spLocks noGrp="1"/>
          </p:cNvSpPr>
          <p:nvPr>
            <p:ph type="pic" idx="6"/>
          </p:nvPr>
        </p:nvSpPr>
        <p:spPr>
          <a:xfrm>
            <a:off x="228600" y="1038850"/>
            <a:ext cx="1003500" cy="1453500"/>
          </a:xfrm>
          <a:prstGeom prst="rect">
            <a:avLst/>
          </a:prstGeom>
          <a:noFill/>
          <a:ln>
            <a:noFill/>
          </a:ln>
        </p:spPr>
      </p:sp>
      <p:sp>
        <p:nvSpPr>
          <p:cNvPr id="327" name="Google Shape;327;p45"/>
          <p:cNvSpPr>
            <a:spLocks noGrp="1"/>
          </p:cNvSpPr>
          <p:nvPr>
            <p:ph type="pic" idx="7"/>
          </p:nvPr>
        </p:nvSpPr>
        <p:spPr>
          <a:xfrm>
            <a:off x="6745975" y="1038850"/>
            <a:ext cx="2169600" cy="14535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5"/>
          <p:cNvSpPr>
            <a:spLocks noGrp="1"/>
          </p:cNvSpPr>
          <p:nvPr>
            <p:ph type="pic" idx="8"/>
          </p:nvPr>
        </p:nvSpPr>
        <p:spPr>
          <a:xfrm>
            <a:off x="1354150" y="1038850"/>
            <a:ext cx="1502400" cy="14535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45"/>
          <p:cNvSpPr>
            <a:spLocks noGrp="1"/>
          </p:cNvSpPr>
          <p:nvPr>
            <p:ph type="pic" idx="9"/>
          </p:nvPr>
        </p:nvSpPr>
        <p:spPr>
          <a:xfrm>
            <a:off x="2981410" y="1038850"/>
            <a:ext cx="2196300" cy="14535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45"/>
          <p:cNvSpPr>
            <a:spLocks noGrp="1"/>
          </p:cNvSpPr>
          <p:nvPr>
            <p:ph type="pic" idx="13"/>
          </p:nvPr>
        </p:nvSpPr>
        <p:spPr>
          <a:xfrm>
            <a:off x="5311004" y="1038850"/>
            <a:ext cx="1301700" cy="145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CUSTOM_2_1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7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40" name="Google Shape;340;p47"/>
          <p:cNvCxnSpPr/>
          <p:nvPr/>
        </p:nvCxnSpPr>
        <p:spPr>
          <a:xfrm rot="10800000" flipH="1">
            <a:off x="225750" y="4678950"/>
            <a:ext cx="8692500" cy="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1" name="Google Shape;341;p47"/>
          <p:cNvSpPr txBox="1">
            <a:spLocks noGrp="1"/>
          </p:cNvSpPr>
          <p:nvPr>
            <p:ph type="title" hasCustomPrompt="1"/>
          </p:nvPr>
        </p:nvSpPr>
        <p:spPr>
          <a:xfrm>
            <a:off x="225750" y="1212350"/>
            <a:ext cx="8606700" cy="439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9pPr>
          </a:lstStyle>
          <a:p>
            <a:r>
              <a:t>xx%</a:t>
            </a:r>
          </a:p>
        </p:txBody>
      </p:sp>
      <p:cxnSp>
        <p:nvCxnSpPr>
          <p:cNvPr id="342" name="Google Shape;342;p47"/>
          <p:cNvCxnSpPr/>
          <p:nvPr/>
        </p:nvCxnSpPr>
        <p:spPr>
          <a:xfrm rot="10800000" flipH="1">
            <a:off x="225750" y="1212350"/>
            <a:ext cx="8692500" cy="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3" name="Google Shape;343;p47"/>
          <p:cNvSpPr txBox="1">
            <a:spLocks noGrp="1"/>
          </p:cNvSpPr>
          <p:nvPr>
            <p:ph type="body" idx="1"/>
          </p:nvPr>
        </p:nvSpPr>
        <p:spPr>
          <a:xfrm>
            <a:off x="228600" y="578150"/>
            <a:ext cx="8692500" cy="63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USTOM_2_1_1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8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46" name="Google Shape;346;p48"/>
          <p:cNvCxnSpPr/>
          <p:nvPr/>
        </p:nvCxnSpPr>
        <p:spPr>
          <a:xfrm rot="10800000" flipH="1">
            <a:off x="225750" y="4678950"/>
            <a:ext cx="8692500" cy="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7" name="Google Shape;347;p48"/>
          <p:cNvSpPr txBox="1">
            <a:spLocks noGrp="1"/>
          </p:cNvSpPr>
          <p:nvPr>
            <p:ph type="body" idx="1"/>
          </p:nvPr>
        </p:nvSpPr>
        <p:spPr>
          <a:xfrm>
            <a:off x="228600" y="3719575"/>
            <a:ext cx="3942600" cy="74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CUSTOM_9"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owun Batang"/>
              <a:buNone/>
              <a:defRPr sz="36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2947825"/>
            <a:ext cx="8520600" cy="16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algn="r" rtl="0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algn="r" rtl="0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algn="r" rtl="0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algn="r" rtl="0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algn="r" rtl="0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algn="r" rtl="0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algn="r" rtl="0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algn="r" rtl="0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9" r:id="rId9"/>
    <p:sldLayoutId id="2147483661" r:id="rId10"/>
    <p:sldLayoutId id="2147483664" r:id="rId11"/>
    <p:sldLayoutId id="2147483667" r:id="rId12"/>
    <p:sldLayoutId id="2147483669" r:id="rId13"/>
    <p:sldLayoutId id="2147483670" r:id="rId14"/>
    <p:sldLayoutId id="2147483672" r:id="rId15"/>
    <p:sldLayoutId id="2147483674" r:id="rId16"/>
    <p:sldLayoutId id="2147483675" r:id="rId17"/>
    <p:sldLayoutId id="2147483680" r:id="rId18"/>
    <p:sldLayoutId id="2147483683" r:id="rId19"/>
    <p:sldLayoutId id="2147483684" r:id="rId20"/>
    <p:sldLayoutId id="2147483685" r:id="rId21"/>
    <p:sldLayoutId id="2147483686" r:id="rId22"/>
    <p:sldLayoutId id="2147483687" r:id="rId23"/>
    <p:sldLayoutId id="2147483688" r:id="rId24"/>
    <p:sldLayoutId id="2147483690" r:id="rId25"/>
    <p:sldLayoutId id="2147483691" r:id="rId26"/>
    <p:sldLayoutId id="2147483693" r:id="rId27"/>
    <p:sldLayoutId id="2147483694" r:id="rId28"/>
    <p:sldLayoutId id="2147483695" r:id="rId2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44">
          <p15:clr>
            <a:srgbClr val="E46962"/>
          </p15:clr>
        </p15:guide>
        <p15:guide id="2" pos="5616">
          <p15:clr>
            <a:srgbClr val="E46962"/>
          </p15:clr>
        </p15:guide>
        <p15:guide id="3" orient="horz" pos="104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s41467-025-61458-x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0"/>
          <p:cNvSpPr txBox="1">
            <a:spLocks noGrp="1"/>
          </p:cNvSpPr>
          <p:nvPr>
            <p:ph type="body" idx="3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Shawn Nordstrom</a:t>
            </a:r>
            <a:endParaRPr/>
          </a:p>
        </p:txBody>
      </p:sp>
      <p:sp>
        <p:nvSpPr>
          <p:cNvPr id="354" name="Google Shape;354;p50"/>
          <p:cNvSpPr txBox="1">
            <a:spLocks noGrp="1"/>
          </p:cNvSpPr>
          <p:nvPr>
            <p:ph type="title"/>
          </p:nvPr>
        </p:nvSpPr>
        <p:spPr>
          <a:xfrm>
            <a:off x="228600" y="212825"/>
            <a:ext cx="8310000" cy="94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Inverse Physics for Soft Bodies</a:t>
            </a:r>
            <a:endParaRPr/>
          </a:p>
        </p:txBody>
      </p:sp>
      <p:sp>
        <p:nvSpPr>
          <p:cNvPr id="355" name="Google Shape;355;p50"/>
          <p:cNvSpPr txBox="1">
            <a:spLocks noGrp="1"/>
          </p:cNvSpPr>
          <p:nvPr>
            <p:ph type="body" idx="1"/>
          </p:nvPr>
        </p:nvSpPr>
        <p:spPr>
          <a:xfrm>
            <a:off x="228600" y="1044800"/>
            <a:ext cx="68091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Question: How well can inverse physics recover soft-material latents vs simple feature models?</a:t>
            </a:r>
            <a:endParaRPr sz="2000"/>
          </a:p>
        </p:txBody>
      </p:sp>
      <p:sp>
        <p:nvSpPr>
          <p:cNvPr id="356" name="Google Shape;356;p50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pic>
        <p:nvPicPr>
          <p:cNvPr id="357" name="Google Shape;35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4524" y="1361025"/>
            <a:ext cx="4134951" cy="4134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1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363" name="Google Shape;363;p51"/>
          <p:cNvSpPr txBox="1">
            <a:spLocks noGrp="1"/>
          </p:cNvSpPr>
          <p:nvPr>
            <p:ph type="title"/>
          </p:nvPr>
        </p:nvSpPr>
        <p:spPr>
          <a:xfrm>
            <a:off x="229450" y="164350"/>
            <a:ext cx="8686800" cy="6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Prior work: Bi et al. cloth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51"/>
          <p:cNvSpPr txBox="1">
            <a:spLocks noGrp="1"/>
          </p:cNvSpPr>
          <p:nvPr>
            <p:ph type="body" idx="1"/>
          </p:nvPr>
        </p:nvSpPr>
        <p:spPr>
          <a:xfrm>
            <a:off x="332500" y="1007850"/>
            <a:ext cx="8583000" cy="10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Bi et al.: cloth simulator + inverse physics → human 2AFC “same material?” best fit by generative model</a:t>
            </a:r>
            <a:endParaRPr sz="2000" dirty="0"/>
          </a:p>
        </p:txBody>
      </p:sp>
      <p:sp>
        <p:nvSpPr>
          <p:cNvPr id="365" name="Google Shape;365;p51"/>
          <p:cNvSpPr txBox="1">
            <a:spLocks noGrp="1"/>
          </p:cNvSpPr>
          <p:nvPr>
            <p:ph type="body" idx="3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 dirty="0"/>
              <a:t>(Bi et al., 2025; </a:t>
            </a:r>
            <a:r>
              <a:rPr lang="en" u="sng" dirty="0">
                <a:solidFill>
                  <a:schemeClr val="hlink"/>
                </a:solidFill>
                <a:hlinkClick r:id="rId3"/>
              </a:rPr>
              <a:t>doi:10.1038/s41467-025-61458-x</a:t>
            </a:r>
            <a:r>
              <a:rPr lang="en" dirty="0"/>
              <a:t>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66" name="Google Shape;366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5501" y="2010146"/>
            <a:ext cx="3585198" cy="231343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67" name="Google Shape;367;p51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32399" y="1654724"/>
                <a:ext cx="5268301" cy="3024276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 u="sng" dirty="0"/>
                  <a:t>Generative model: 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i="1" dirty="0"/>
                  <a:t>     </a:t>
                </a:r>
                <a:r>
                  <a:rPr lang="el-GR" sz="1400" i="1" dirty="0"/>
                  <a:t>θ = (</a:t>
                </a:r>
                <a:r>
                  <a:rPr lang="en-US" sz="1400" b="1" i="1" u="sng" dirty="0"/>
                  <a:t>mass</a:t>
                </a:r>
                <a:r>
                  <a:rPr lang="en-US" sz="1400" i="1" dirty="0"/>
                  <a:t>, </a:t>
                </a:r>
                <a:r>
                  <a:rPr lang="en-US" sz="1400" b="1" i="1" u="sng" dirty="0"/>
                  <a:t>stiffness</a:t>
                </a:r>
                <a:r>
                  <a:rPr lang="en-US" sz="1400" i="1" dirty="0"/>
                  <a:t>, external force) ~ p(</a:t>
                </a:r>
                <a:r>
                  <a:rPr lang="el-GR" sz="1400" i="1" dirty="0"/>
                  <a:t>θ)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dirty="0"/>
                  <a:t>     video V ~ </a:t>
                </a:r>
                <a:r>
                  <a:rPr lang="en-US" sz="1400" i="1" dirty="0"/>
                  <a:t>p(V </a:t>
                </a:r>
                <a:r>
                  <a:rPr lang="en-US" sz="1400" dirty="0"/>
                  <a:t>|</a:t>
                </a:r>
                <a:r>
                  <a:rPr lang="en-US" sz="1400" i="1" dirty="0"/>
                  <a:t> </a:t>
                </a:r>
                <a:r>
                  <a:rPr lang="el-GR" sz="1400" i="1" dirty="0" err="1"/>
                  <a:t>θ</a:t>
                </a:r>
                <a:r>
                  <a:rPr lang="el-GR" sz="1400" i="1" dirty="0"/>
                  <a:t>) </a:t>
                </a:r>
                <a:r>
                  <a:rPr lang="el-GR" sz="1400" dirty="0"/>
                  <a:t> (</a:t>
                </a:r>
                <a:r>
                  <a:rPr lang="en-US" sz="1400" dirty="0"/>
                  <a:t>cloth simulator + renderer)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dirty="0"/>
                  <a:t>Inference model from a target clip:</a:t>
                </a:r>
              </a:p>
              <a:p>
                <a:pPr marL="0" lvl="0" indent="0">
                  <a:buNone/>
                </a:pPr>
                <a:r>
                  <a:rPr lang="en-US" sz="1400" i="1" dirty="0"/>
                  <a:t>     p(</a:t>
                </a:r>
                <a:r>
                  <a:rPr lang="el-GR" sz="1400" i="1" dirty="0"/>
                  <a:t>θ </a:t>
                </a:r>
                <a:r>
                  <a:rPr lang="el-GR" sz="1400" dirty="0"/>
                  <a:t>|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sz="1400" i="1" dirty="0"/>
                  <a:t>) ∝ p(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/>
                  <a:t>| </a:t>
                </a:r>
                <a:r>
                  <a:rPr lang="el-GR" sz="1400" i="1" dirty="0"/>
                  <a:t>θ)</a:t>
                </a:r>
                <a:r>
                  <a:rPr lang="en-US" sz="1400" i="1" dirty="0"/>
                  <a:t> p(</a:t>
                </a:r>
                <a:r>
                  <a:rPr lang="el-GR" sz="1400" i="1" dirty="0"/>
                  <a:t>θ) </a:t>
                </a:r>
                <a:r>
                  <a:rPr lang="el-GR" sz="1400" dirty="0"/>
                  <a:t> 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l-GR" sz="1400" dirty="0"/>
                  <a:t>2</a:t>
                </a:r>
                <a:r>
                  <a:rPr lang="en-US" sz="1400" dirty="0"/>
                  <a:t>AFC prediction (binary choice):</a:t>
                </a:r>
              </a:p>
              <a:p>
                <a:pPr marL="0" lvl="0" indent="0">
                  <a:buNone/>
                </a:pPr>
                <a:r>
                  <a:rPr lang="en-US" sz="1400" dirty="0"/>
                  <a:t>     For a triad (target T, tests A,B):               </a:t>
                </a:r>
              </a:p>
              <a:p>
                <a:pPr marL="0" lvl="0" indent="0">
                  <a:buNone/>
                </a:pPr>
                <a:r>
                  <a:rPr lang="en-US" sz="1400" dirty="0"/>
                  <a:t>          Infer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sz="1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1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endParaRPr lang="en-US" sz="1400" dirty="0"/>
              </a:p>
              <a:p>
                <a:pPr marL="0" lvl="0" indent="0">
                  <a:buNone/>
                </a:pPr>
                <a:r>
                  <a:rPr lang="en-US" sz="1400" dirty="0"/>
                  <a:t>          Let </a:t>
                </a:r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1400" dirty="0"/>
                  <a:t> be the task-relevant component (</a:t>
                </a:r>
                <a:r>
                  <a:rPr lang="en-US" sz="1400" b="1" u="sng" dirty="0"/>
                  <a:t>stiffness </a:t>
                </a:r>
                <a:r>
                  <a:rPr lang="en-US" sz="1400" dirty="0"/>
                  <a:t>or </a:t>
                </a:r>
                <a:r>
                  <a:rPr lang="en-US" sz="1400" b="1" u="sng" dirty="0"/>
                  <a:t>mass</a:t>
                </a:r>
                <a:r>
                  <a:rPr lang="en-US" sz="1400" dirty="0"/>
                  <a:t>)</a:t>
                </a:r>
              </a:p>
              <a:p>
                <a:pPr marL="0" indent="0">
                  <a:buNone/>
                </a:pPr>
                <a:r>
                  <a:rPr lang="en-US" sz="1400" dirty="0"/>
                  <a:t>          </a:t>
                </a:r>
                <a:r>
                  <a:rPr lang="en-US" sz="1400" dirty="0">
                    <a:ea typeface="Cambria Math" panose="02040503050406030204" pitchFamily="18" charset="0"/>
                  </a:rPr>
                  <a:t>Choose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400" dirty="0">
                    <a:ea typeface="Cambria Math" panose="02040503050406030204" pitchFamily="18" charset="0"/>
                  </a:rPr>
                  <a:t> that minimizes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⁡|</m:t>
                    </m:r>
                    <m:acc>
                      <m:accPr>
                        <m:chr m:val="̂"/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acc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)|</m:t>
                    </m:r>
                  </m:oMath>
                </a14:m>
                <a:endParaRPr lang="en-US" sz="1400" dirty="0"/>
              </a:p>
              <a:p>
                <a:pPr marL="0" lvl="0" indent="0">
                  <a:buNone/>
                </a:pPr>
                <a:r>
                  <a:rPr lang="en-US" sz="1400" b="1" u="sng" dirty="0"/>
                  <a:t>Task-optimized DNN baseline:</a:t>
                </a:r>
                <a:endParaRPr lang="en-US" sz="1400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</m:acc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𝐷𝑁𝑁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</m:oMath>
                  </m:oMathPara>
                </a14:m>
                <a:endParaRPr lang="en-US" sz="1400" b="0" i="1" dirty="0">
                  <a:ea typeface="Cambria Math" panose="02040503050406030204" pitchFamily="18" charset="0"/>
                </a:endParaRPr>
              </a:p>
              <a:p>
                <a:pPr marL="0" lvl="0" indent="0">
                  <a:buNone/>
                </a:pPr>
                <a:r>
                  <a:rPr lang="en-US" sz="1400" b="0" dirty="0">
                    <a:ea typeface="Cambria Math" panose="02040503050406030204" pitchFamily="18" charset="0"/>
                  </a:rPr>
                  <a:t>Choose </a:t>
                </a:r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400" dirty="0">
                    <a:ea typeface="Cambria Math" panose="02040503050406030204" pitchFamily="18" charset="0"/>
                  </a:rPr>
                  <a:t> that minimizes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⁡|</m:t>
                    </m:r>
                    <m:acc>
                      <m:accPr>
                        <m:chr m:val="̂"/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acc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)|</m:t>
                    </m:r>
                  </m:oMath>
                </a14:m>
                <a:endParaRPr lang="en-US" sz="1400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dirty="0"/>
                  <a:t>	 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dirty="0"/>
              </a:p>
            </p:txBody>
          </p:sp>
        </mc:Choice>
        <mc:Fallback>
          <p:sp>
            <p:nvSpPr>
              <p:cNvPr id="367" name="Google Shape;367;p51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32399" y="1654724"/>
                <a:ext cx="5268301" cy="3024276"/>
              </a:xfrm>
              <a:prstGeom prst="rect">
                <a:avLst/>
              </a:prstGeom>
              <a:blipFill>
                <a:blip r:embed="rId5"/>
                <a:stretch>
                  <a:fillRect l="-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1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363" name="Google Shape;363;p51"/>
          <p:cNvSpPr txBox="1">
            <a:spLocks noGrp="1"/>
          </p:cNvSpPr>
          <p:nvPr>
            <p:ph type="title"/>
          </p:nvPr>
        </p:nvSpPr>
        <p:spPr>
          <a:xfrm>
            <a:off x="229450" y="164350"/>
            <a:ext cx="8914550" cy="6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This project: generalized soft body object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4" name="Google Shape;364;p51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32500" y="1007850"/>
                <a:ext cx="8583000" cy="10563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 dirty="0"/>
                  <a:t>Same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𝑣𝑖𝑑𝑒𝑜</m:t>
                        </m:r>
                      </m: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2000" dirty="0"/>
                  <a:t> structure as Bi et al, but with a minimal soft-body world.</a:t>
                </a:r>
                <a:endParaRPr sz="2000" dirty="0"/>
              </a:p>
            </p:txBody>
          </p:sp>
        </mc:Choice>
        <mc:Fallback>
          <p:sp>
            <p:nvSpPr>
              <p:cNvPr id="364" name="Google Shape;364;p51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32500" y="1007850"/>
                <a:ext cx="8583000" cy="1056300"/>
              </a:xfrm>
              <a:prstGeom prst="rect">
                <a:avLst/>
              </a:prstGeom>
              <a:blipFill>
                <a:blip r:embed="rId3"/>
                <a:stretch>
                  <a:fillRect l="-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7" name="Google Shape;367;p51"/>
          <p:cNvSpPr txBox="1">
            <a:spLocks noGrp="1"/>
          </p:cNvSpPr>
          <p:nvPr>
            <p:ph type="body" idx="1"/>
          </p:nvPr>
        </p:nvSpPr>
        <p:spPr>
          <a:xfrm>
            <a:off x="3261860" y="1762007"/>
            <a:ext cx="5826874" cy="30242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u="sng" dirty="0"/>
              <a:t>Taichi soft body physics model: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Mass spring grid:</a:t>
            </a:r>
          </a:p>
          <a:p>
            <a:pPr marL="285750">
              <a:buFont typeface="Courier New" panose="02070309020205020404" pitchFamily="49" charset="0"/>
              <a:buChar char="o"/>
            </a:pPr>
            <a:r>
              <a:rPr lang="en-US" sz="1400" dirty="0"/>
              <a:t>The object is modeled as an </a:t>
            </a:r>
            <a:r>
              <a:rPr lang="en-US" sz="1400" dirty="0" err="1"/>
              <a:t>nxn</a:t>
            </a:r>
            <a:r>
              <a:rPr lang="en-US" sz="1400" dirty="0"/>
              <a:t> lattice of point masses, each connected to neighbors by springs. This approximates a deformable soft body affected by gravity, spring forces, and damping.</a:t>
            </a:r>
          </a:p>
          <a:p>
            <a:pPr marL="285750">
              <a:buFont typeface="Courier New" panose="02070309020205020404" pitchFamily="49" charset="0"/>
              <a:buChar char="o"/>
            </a:pPr>
            <a:r>
              <a:rPr lang="en-US" sz="1400" dirty="0"/>
              <a:t>For drawing, take the outer ring of points and smooth the outline to form the visible shape.</a:t>
            </a:r>
          </a:p>
          <a:p>
            <a:pPr marL="285750">
              <a:buFont typeface="Courier New" panose="02070309020205020404" pitchFamily="49" charset="0"/>
              <a:buChar char="o"/>
            </a:pPr>
            <a:endParaRPr lang="en-US" sz="1400" dirty="0"/>
          </a:p>
          <a:p>
            <a:pPr marL="0" indent="0">
              <a:buNone/>
            </a:pPr>
            <a:r>
              <a:rPr lang="en-US" sz="1400" b="1" u="sng" dirty="0"/>
              <a:t>Latent material parameters:</a:t>
            </a:r>
          </a:p>
          <a:p>
            <a:pPr marL="285750">
              <a:buFont typeface="Courier New" panose="02070309020205020404" pitchFamily="49" charset="0"/>
              <a:buChar char="o"/>
            </a:pPr>
            <a:r>
              <a:rPr lang="el-GR" sz="1400" i="1" dirty="0"/>
              <a:t>θ = (</a:t>
            </a:r>
            <a:r>
              <a:rPr lang="en-US" sz="1400" i="1" dirty="0"/>
              <a:t>stiffness, damping)</a:t>
            </a:r>
          </a:p>
          <a:p>
            <a:pPr marL="285750">
              <a:buFont typeface="Courier New" panose="02070309020205020404" pitchFamily="49" charset="0"/>
              <a:buChar char="o"/>
            </a:pPr>
            <a:r>
              <a:rPr lang="en-US" sz="1400" dirty="0"/>
              <a:t>By sweeping </a:t>
            </a:r>
            <a:r>
              <a:rPr lang="el-GR" sz="1400" i="1" dirty="0"/>
              <a:t>θ</a:t>
            </a:r>
            <a:r>
              <a:rPr lang="en-US" sz="1400" i="1" dirty="0"/>
              <a:t> </a:t>
            </a:r>
            <a:r>
              <a:rPr lang="en-US" sz="1400" dirty="0"/>
              <a:t>we generate a grid of impact videos with known ground-truth </a:t>
            </a:r>
            <a:r>
              <a:rPr lang="el-GR" sz="1400" i="1" dirty="0"/>
              <a:t>θ</a:t>
            </a:r>
            <a:r>
              <a:rPr lang="en-US" sz="1400" i="1" dirty="0"/>
              <a:t> </a:t>
            </a:r>
            <a:r>
              <a:rPr lang="en-US" sz="1400" dirty="0"/>
              <a:t>for model evaluation.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</p:txBody>
      </p:sp>
      <p:pic>
        <p:nvPicPr>
          <p:cNvPr id="3" name="Picture 2" descr="A black background with white dots&#10;&#10;Description automatically generated">
            <a:extLst>
              <a:ext uri="{FF2B5EF4-FFF2-40B4-BE49-F238E27FC236}">
                <a16:creationId xmlns:a16="http://schemas.microsoft.com/office/drawing/2014/main" id="{5E5589CB-7A31-6E70-7C11-9A92700CC6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984" y="1846854"/>
            <a:ext cx="2547721" cy="2760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03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63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537" name="Google Shape;537;p63"/>
          <p:cNvSpPr txBox="1">
            <a:spLocks noGrp="1"/>
          </p:cNvSpPr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Two models on the soft-square world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8" name="Google Shape;538;p63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29450" y="2751413"/>
                <a:ext cx="2834100" cy="10542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71450" lvl="0" indent="-1714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100"/>
                  <a:buFont typeface="Courier New" panose="02070309020205020404" pitchFamily="49" charset="0"/>
                  <a:buChar char="o"/>
                </a:pPr>
                <a:r>
                  <a:rPr lang="en-US" dirty="0"/>
                  <a:t>Treat Taichi sim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171450" lvl="0" indent="-171450">
                  <a:buClr>
                    <a:schemeClr val="accent1"/>
                  </a:buClr>
                  <a:buSzPts val="1100"/>
                  <a:buFont typeface="Courier New" panose="02070309020205020404" pitchFamily="49" charset="0"/>
                  <a:buChar char="o"/>
                </a:pPr>
                <a:r>
                  <a:rPr lang="en-US" dirty="0"/>
                  <a:t>Prior over material parameters: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/>
                  <a:t> = (k, c) ~ p(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171450" lvl="0" indent="-171450">
                  <a:buClr>
                    <a:schemeClr val="accent1"/>
                  </a:buClr>
                  <a:buSzPts val="1100"/>
                  <a:buFont typeface="Courier New" panose="02070309020205020404" pitchFamily="49" charset="0"/>
                  <a:buChar char="o"/>
                </a:pPr>
                <a:r>
                  <a:rPr lang="en-US" dirty="0"/>
                  <a:t>Inference: </a:t>
                </a:r>
                <a:r>
                  <a:rPr lang="en-US" sz="900" i="1" dirty="0"/>
                  <a:t>p(</a:t>
                </a:r>
                <a:r>
                  <a:rPr lang="el-GR" sz="900" i="1" dirty="0"/>
                  <a:t>θ </a:t>
                </a:r>
                <a:r>
                  <a:rPr lang="el-GR" sz="900" dirty="0"/>
                  <a:t>|</a:t>
                </a:r>
                <a:r>
                  <a:rPr lang="en-US" sz="900" dirty="0"/>
                  <a:t> </a:t>
                </a:r>
                <a14:m>
                  <m:oMath xmlns:m="http://schemas.openxmlformats.org/officeDocument/2006/math">
                    <m:r>
                      <a:rPr lang="en-US" sz="9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900" i="1" dirty="0"/>
                  <a:t>) ∝ p(V </a:t>
                </a:r>
                <a:r>
                  <a:rPr lang="en-US" sz="900" dirty="0"/>
                  <a:t>| </a:t>
                </a:r>
                <a:r>
                  <a:rPr lang="el-GR" sz="900" i="1" dirty="0"/>
                  <a:t>θ)</a:t>
                </a:r>
                <a:r>
                  <a:rPr lang="en-US" sz="900" i="1" dirty="0"/>
                  <a:t> p(</a:t>
                </a:r>
                <a:r>
                  <a:rPr lang="el-GR" sz="900" i="1" dirty="0"/>
                  <a:t>θ) </a:t>
                </a:r>
                <a:endParaRPr lang="en-US" sz="900" i="1" dirty="0"/>
              </a:p>
              <a:p>
                <a:pPr marL="628650" lvl="1" indent="-171450">
                  <a:buClr>
                    <a:schemeClr val="accent1"/>
                  </a:buClr>
                  <a:buSzPts val="1100"/>
                  <a:buFont typeface="Arial" panose="020B0604020202020204" pitchFamily="34" charset="0"/>
                  <a:buChar char="•"/>
                </a:pPr>
                <a:r>
                  <a:rPr lang="en-US" dirty="0"/>
                  <a:t>batch MAP / MCMC</a:t>
                </a:r>
              </a:p>
              <a:p>
                <a:pPr marL="628650" lvl="1" indent="-171450">
                  <a:buClr>
                    <a:schemeClr val="accent1"/>
                  </a:buClr>
                  <a:buSzPts val="1100"/>
                  <a:buFont typeface="Arial" panose="020B0604020202020204" pitchFamily="34" charset="0"/>
                  <a:buChar char="•"/>
                </a:pPr>
                <a:r>
                  <a:rPr lang="en-US" dirty="0"/>
                  <a:t>and sequential SMC over frames</a:t>
                </a:r>
              </a:p>
              <a:p>
                <a:pPr marL="171450" indent="-171450">
                  <a:buClr>
                    <a:schemeClr val="accent1"/>
                  </a:buClr>
                  <a:buSzPts val="1100"/>
                  <a:buFont typeface="Courier New" panose="02070309020205020404" pitchFamily="49" charset="0"/>
                  <a:buChar char="o"/>
                </a:pPr>
                <a:r>
                  <a:rPr lang="en-US" dirty="0"/>
                  <a:t>Output for each video: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baseline="-25000" dirty="0" err="1"/>
                  <a:t>phys</a:t>
                </a:r>
                <a:r>
                  <a:rPr lang="en-US" dirty="0"/>
                  <a:t> (V) = 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lang="en-US" dirty="0"/>
                  <a:t>)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100"/>
                  <a:buNone/>
                </a:pPr>
                <a:endParaRPr lang="en-US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mc:Choice>
        <mc:Fallback>
          <p:sp>
            <p:nvSpPr>
              <p:cNvPr id="538" name="Google Shape;538;p63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29450" y="2751413"/>
                <a:ext cx="2834100" cy="1054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9" name="Google Shape;539;p63"/>
          <p:cNvSpPr txBox="1">
            <a:spLocks noGrp="1"/>
          </p:cNvSpPr>
          <p:nvPr>
            <p:ph type="subTitle" idx="2"/>
          </p:nvPr>
        </p:nvSpPr>
        <p:spPr>
          <a:xfrm>
            <a:off x="229450" y="2423312"/>
            <a:ext cx="28341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 1: </a:t>
            </a:r>
            <a:r>
              <a:rPr lang="en" dirty="0" err="1"/>
              <a:t>Taichi</a:t>
            </a:r>
            <a:r>
              <a:rPr lang="en" dirty="0"/>
              <a:t> + Gen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0" name="Google Shape;540;p63"/>
              <p:cNvSpPr txBox="1">
                <a:spLocks noGrp="1"/>
              </p:cNvSpPr>
              <p:nvPr>
                <p:ph type="body" idx="3"/>
              </p:nvPr>
            </p:nvSpPr>
            <p:spPr>
              <a:xfrm>
                <a:off x="3155800" y="2751413"/>
                <a:ext cx="2720344" cy="10542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71450" lvl="0" indent="-1714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100"/>
                  <a:buFont typeface="Courier New" panose="02070309020205020404" pitchFamily="49" charset="0"/>
                  <a:buChar char="o"/>
                </a:pPr>
                <a:r>
                  <a:rPr lang="en-US" dirty="0"/>
                  <a:t>No simulator, no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171450" lvl="0" indent="-1714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100"/>
                  <a:buFont typeface="Courier New" panose="02070309020205020404" pitchFamily="49" charset="0"/>
                  <a:buChar char="o"/>
                </a:pPr>
                <a:r>
                  <a:rPr lang="en-US" dirty="0"/>
                  <a:t>For each video compute motion features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e.g.:</a:t>
                </a:r>
              </a:p>
              <a:p>
                <a:pPr marL="628650" lvl="1" indent="-171450">
                  <a:buClr>
                    <a:schemeClr val="accent1"/>
                  </a:buClr>
                  <a:buSzPts val="1100"/>
                  <a:buFont typeface="Arial" panose="020B0604020202020204" pitchFamily="34" charset="0"/>
                  <a:buChar char="•"/>
                </a:pPr>
                <a:r>
                  <a:rPr lang="en-US" dirty="0"/>
                  <a:t>Max compression ratio</a:t>
                </a:r>
              </a:p>
              <a:p>
                <a:pPr marL="628650" lvl="1" indent="-171450">
                  <a:buClr>
                    <a:schemeClr val="accent1"/>
                  </a:buClr>
                  <a:buSzPts val="1100"/>
                  <a:buFont typeface="Arial" panose="020B0604020202020204" pitchFamily="34" charset="0"/>
                  <a:buChar char="•"/>
                </a:pPr>
                <a:r>
                  <a:rPr lang="en-US" dirty="0"/>
                  <a:t>Settling time</a:t>
                </a:r>
              </a:p>
              <a:p>
                <a:pPr marL="628650" lvl="1" indent="-171450">
                  <a:buClr>
                    <a:schemeClr val="accent1"/>
                  </a:buClr>
                  <a:buSzPts val="1100"/>
                  <a:buFont typeface="Arial" panose="020B0604020202020204" pitchFamily="34" charset="0"/>
                  <a:buChar char="•"/>
                </a:pPr>
                <a:r>
                  <a:rPr lang="en-US" dirty="0"/>
                  <a:t>Max COM speed, bounce count</a:t>
                </a:r>
              </a:p>
              <a:p>
                <a:pPr marL="171450" indent="-171450">
                  <a:buClr>
                    <a:schemeClr val="accent1"/>
                  </a:buClr>
                  <a:buSzPts val="1100"/>
                  <a:buFont typeface="Courier New" panose="02070309020205020404" pitchFamily="49" charset="0"/>
                  <a:buChar char="o"/>
                </a:pPr>
                <a:r>
                  <a:rPr lang="en-US" dirty="0"/>
                  <a:t>Fit regressor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 on simulated data:</a:t>
                </a:r>
              </a:p>
              <a:p>
                <a:pPr marL="0" indent="0">
                  <a:buClr>
                    <a:schemeClr val="accent1"/>
                  </a:buClr>
                  <a:buSzPts val="1100"/>
                  <a:buNone/>
                </a:pPr>
                <a:r>
                  <a:rPr lang="en-US" dirty="0"/>
                  <a:t>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𝑓𝑒𝑎𝑡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171450" lvl="0" indent="-171450" algn="l" rtl="0">
                  <a:spcBef>
                    <a:spcPts val="0"/>
                  </a:spcBef>
                  <a:spcAft>
                    <a:spcPts val="0"/>
                  </a:spcAft>
                  <a:buFont typeface="Courier New" panose="02070309020205020404" pitchFamily="49" charset="0"/>
                  <a:buChar char="o"/>
                </a:pPr>
                <a:r>
                  <a:rPr lang="en-US" dirty="0"/>
                  <a:t>Same output space (stiffness, damping), different inductive bias</a:t>
                </a:r>
                <a:endParaRPr dirty="0"/>
              </a:p>
            </p:txBody>
          </p:sp>
        </mc:Choice>
        <mc:Fallback>
          <p:sp>
            <p:nvSpPr>
              <p:cNvPr id="540" name="Google Shape;540;p63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3"/>
              </p:nvPr>
            </p:nvSpPr>
            <p:spPr>
              <a:xfrm>
                <a:off x="3155800" y="2751413"/>
                <a:ext cx="2720344" cy="1054200"/>
              </a:xfrm>
              <a:prstGeom prst="rect">
                <a:avLst/>
              </a:prstGeom>
              <a:blipFill>
                <a:blip r:embed="rId4"/>
                <a:stretch>
                  <a:fillRect b="-46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1" name="Google Shape;541;p63"/>
          <p:cNvSpPr txBox="1">
            <a:spLocks noGrp="1"/>
          </p:cNvSpPr>
          <p:nvPr>
            <p:ph type="subTitle" idx="4"/>
          </p:nvPr>
        </p:nvSpPr>
        <p:spPr>
          <a:xfrm>
            <a:off x="3155800" y="2423312"/>
            <a:ext cx="28341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2: feature model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2" name="Google Shape;542;p63"/>
              <p:cNvSpPr txBox="1">
                <a:spLocks noGrp="1"/>
              </p:cNvSpPr>
              <p:nvPr>
                <p:ph type="body" idx="5"/>
              </p:nvPr>
            </p:nvSpPr>
            <p:spPr>
              <a:xfrm>
                <a:off x="6082150" y="2751413"/>
                <a:ext cx="2834100" cy="10542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71450" lvl="0" indent="-1714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100"/>
                  <a:buFont typeface="Courier New" panose="02070309020205020404" pitchFamily="49" charset="0"/>
                  <a:buChar char="o"/>
                </a:pPr>
                <a:r>
                  <a:rPr lang="en-US" dirty="0"/>
                  <a:t>Compare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ar-AE" dirty="0"/>
                  <a:t> </a:t>
                </a:r>
                <a:r>
                  <a:rPr lang="en-US" dirty="0"/>
                  <a:t>to ground-truth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for many videos </a:t>
                </a:r>
              </a:p>
              <a:p>
                <a:pPr marL="171450" lvl="0" indent="-171450">
                  <a:buClr>
                    <a:schemeClr val="accent1"/>
                  </a:buClr>
                  <a:buSzPts val="1100"/>
                  <a:buFont typeface="Courier New" panose="02070309020205020404" pitchFamily="49" charset="0"/>
                  <a:buChar char="o"/>
                </a:pPr>
                <a:r>
                  <a:rPr lang="en-US" dirty="0"/>
                  <a:t>Metrics: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correlation for k and c, error vs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endParaRPr lang="en-US" dirty="0"/>
              </a:p>
              <a:p>
                <a:pPr marL="171450" lvl="0" indent="-171450">
                  <a:buClr>
                    <a:schemeClr val="accent1"/>
                  </a:buClr>
                  <a:buSzPts val="1100"/>
                  <a:buFont typeface="Courier New" panose="02070309020205020404" pitchFamily="49" charset="0"/>
                  <a:buChar char="o"/>
                </a:pPr>
                <a:r>
                  <a:rPr lang="en-US" dirty="0"/>
                  <a:t>Question: When does structured inverse physics beat a feature regressor on recovering material properties?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mc:Choice>
        <mc:Fallback>
          <p:sp>
            <p:nvSpPr>
              <p:cNvPr id="542" name="Google Shape;542;p63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5"/>
              </p:nvPr>
            </p:nvSpPr>
            <p:spPr>
              <a:xfrm>
                <a:off x="6082150" y="2751413"/>
                <a:ext cx="2834100" cy="10542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3" name="Google Shape;543;p63"/>
          <p:cNvSpPr txBox="1">
            <a:spLocks noGrp="1"/>
          </p:cNvSpPr>
          <p:nvPr>
            <p:ph type="subTitle" idx="6"/>
          </p:nvPr>
        </p:nvSpPr>
        <p:spPr>
          <a:xfrm>
            <a:off x="6082150" y="2423312"/>
            <a:ext cx="28341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Evaluation on simulated dataset</a:t>
            </a:r>
            <a:endParaRPr dirty="0"/>
          </a:p>
        </p:txBody>
      </p:sp>
      <p:grpSp>
        <p:nvGrpSpPr>
          <p:cNvPr id="545" name="Google Shape;545;p63"/>
          <p:cNvGrpSpPr/>
          <p:nvPr/>
        </p:nvGrpSpPr>
        <p:grpSpPr>
          <a:xfrm>
            <a:off x="228600" y="884212"/>
            <a:ext cx="2834950" cy="1459225"/>
            <a:chOff x="228600" y="1588750"/>
            <a:chExt cx="2834950" cy="1459225"/>
          </a:xfrm>
        </p:grpSpPr>
        <p:sp>
          <p:nvSpPr>
            <p:cNvPr id="546" name="Google Shape;546;p63"/>
            <p:cNvSpPr txBox="1"/>
            <p:nvPr/>
          </p:nvSpPr>
          <p:spPr>
            <a:xfrm>
              <a:off x="229450" y="1588750"/>
              <a:ext cx="2834100" cy="145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dirty="0">
                  <a:solidFill>
                    <a:schemeClr val="dk1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Model 1: inverse-physics (generative)</a:t>
              </a:r>
              <a:endParaRPr sz="2500" dirty="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  <p:cxnSp>
          <p:nvCxnSpPr>
            <p:cNvPr id="547" name="Google Shape;547;p63"/>
            <p:cNvCxnSpPr/>
            <p:nvPr/>
          </p:nvCxnSpPr>
          <p:spPr>
            <a:xfrm>
              <a:off x="228600" y="3047975"/>
              <a:ext cx="2834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8" name="Google Shape;548;p63"/>
            <p:cNvCxnSpPr/>
            <p:nvPr/>
          </p:nvCxnSpPr>
          <p:spPr>
            <a:xfrm>
              <a:off x="228600" y="1687250"/>
              <a:ext cx="2834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49" name="Google Shape;549;p63"/>
          <p:cNvGrpSpPr/>
          <p:nvPr/>
        </p:nvGrpSpPr>
        <p:grpSpPr>
          <a:xfrm>
            <a:off x="3154950" y="884212"/>
            <a:ext cx="2834100" cy="1459225"/>
            <a:chOff x="3154950" y="1588750"/>
            <a:chExt cx="2834100" cy="1459225"/>
          </a:xfrm>
        </p:grpSpPr>
        <p:sp>
          <p:nvSpPr>
            <p:cNvPr id="550" name="Google Shape;550;p63"/>
            <p:cNvSpPr txBox="1"/>
            <p:nvPr/>
          </p:nvSpPr>
          <p:spPr>
            <a:xfrm>
              <a:off x="3154950" y="1588750"/>
              <a:ext cx="2834100" cy="145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dirty="0">
                  <a:solidFill>
                    <a:schemeClr val="dk1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Model 2: feature baseline (discriminative)</a:t>
              </a:r>
              <a:endParaRPr sz="2500" dirty="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  <p:cxnSp>
          <p:nvCxnSpPr>
            <p:cNvPr id="551" name="Google Shape;551;p63"/>
            <p:cNvCxnSpPr/>
            <p:nvPr/>
          </p:nvCxnSpPr>
          <p:spPr>
            <a:xfrm>
              <a:off x="3154950" y="3047975"/>
              <a:ext cx="2834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2" name="Google Shape;552;p63"/>
            <p:cNvCxnSpPr/>
            <p:nvPr/>
          </p:nvCxnSpPr>
          <p:spPr>
            <a:xfrm>
              <a:off x="3154950" y="1687250"/>
              <a:ext cx="2834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53" name="Google Shape;553;p63"/>
          <p:cNvGrpSpPr/>
          <p:nvPr/>
        </p:nvGrpSpPr>
        <p:grpSpPr>
          <a:xfrm>
            <a:off x="6080450" y="884212"/>
            <a:ext cx="2834100" cy="1459225"/>
            <a:chOff x="6080450" y="1588750"/>
            <a:chExt cx="2834100" cy="1459225"/>
          </a:xfrm>
        </p:grpSpPr>
        <p:sp>
          <p:nvSpPr>
            <p:cNvPr id="554" name="Google Shape;554;p63"/>
            <p:cNvSpPr txBox="1"/>
            <p:nvPr/>
          </p:nvSpPr>
          <p:spPr>
            <a:xfrm>
              <a:off x="6080450" y="1588750"/>
              <a:ext cx="2834100" cy="145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000" dirty="0">
                  <a:solidFill>
                    <a:schemeClr val="dk1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Evaluation</a:t>
              </a:r>
              <a:endParaRPr sz="4000" dirty="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  <p:cxnSp>
          <p:nvCxnSpPr>
            <p:cNvPr id="555" name="Google Shape;555;p63"/>
            <p:cNvCxnSpPr/>
            <p:nvPr/>
          </p:nvCxnSpPr>
          <p:spPr>
            <a:xfrm>
              <a:off x="6080450" y="3047975"/>
              <a:ext cx="2834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6" name="Google Shape;556;p63"/>
            <p:cNvCxnSpPr/>
            <p:nvPr/>
          </p:nvCxnSpPr>
          <p:spPr>
            <a:xfrm>
              <a:off x="6080450" y="1687250"/>
              <a:ext cx="2834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2F0574-DDE5-E73C-11BE-5DB92CFD67A7}"/>
              </a:ext>
            </a:extLst>
          </p:cNvPr>
          <p:cNvCxnSpPr>
            <a:cxnSpLocks/>
          </p:cNvCxnSpPr>
          <p:nvPr/>
        </p:nvCxnSpPr>
        <p:spPr>
          <a:xfrm flipV="1">
            <a:off x="6035432" y="976086"/>
            <a:ext cx="0" cy="37029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71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680" name="Google Shape;680;p71"/>
          <p:cNvSpPr txBox="1">
            <a:spLocks noGrp="1"/>
          </p:cNvSpPr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Minds &amp; next steps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81" name="Google Shape;681;p71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29450" y="1294950"/>
                <a:ext cx="3566100" cy="28722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100"/>
                  <a:buFont typeface="Arial"/>
                  <a:buNone/>
                </a:pPr>
                <a:r>
                  <a:rPr lang="en-US" sz="1200" b="1" dirty="0"/>
                  <a:t>Cognitive understanding:</a:t>
                </a:r>
              </a:p>
              <a:p>
                <a:pPr marL="171450" lvl="0" indent="-171450">
                  <a:buClr>
                    <a:schemeClr val="accent1"/>
                  </a:buClr>
                  <a:buSzPts val="1100"/>
                  <a:buFont typeface="Courier New" panose="02070309020205020404" pitchFamily="49" charset="0"/>
                  <a:buChar char="o"/>
                </a:pPr>
                <a:r>
                  <a:rPr lang="en-US" sz="1200" dirty="0"/>
                  <a:t>If people track something like 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 then similarity / “same material?” judgments should align more with inverse-physics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2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𝑝h𝑦𝑠</m:t>
                        </m:r>
                      </m:sub>
                    </m:sSub>
                  </m:oMath>
                </a14:m>
                <a:r>
                  <a:rPr lang="en-US" sz="1200" dirty="0"/>
                  <a:t> than with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𝑓𝑒𝑎𝑡</m:t>
                        </m:r>
                      </m:sub>
                    </m:sSub>
                  </m:oMath>
                </a14:m>
                <a:endParaRPr lang="en-US" sz="1200" dirty="0"/>
              </a:p>
              <a:p>
                <a:pPr marL="0" lvl="0" indent="0">
                  <a:buClr>
                    <a:schemeClr val="accent1"/>
                  </a:buClr>
                  <a:buSzPts val="1100"/>
                  <a:buNone/>
                </a:pPr>
                <a:endParaRPr lang="en-US" sz="1200" dirty="0"/>
              </a:p>
              <a:p>
                <a:pPr marL="0" lvl="0" indent="0">
                  <a:buClr>
                    <a:schemeClr val="accent1"/>
                  </a:buClr>
                  <a:buSzPts val="1100"/>
                  <a:buNone/>
                </a:pPr>
                <a:endParaRPr lang="en-US" sz="1200" dirty="0"/>
              </a:p>
              <a:p>
                <a:pPr marL="0" lvl="0" indent="0">
                  <a:buClr>
                    <a:schemeClr val="accent1"/>
                  </a:buClr>
                  <a:buSzPts val="1100"/>
                  <a:buNone/>
                </a:pPr>
                <a:r>
                  <a:rPr lang="en-US" sz="1200" b="1" dirty="0"/>
                  <a:t>Why soft bodies matter:</a:t>
                </a:r>
              </a:p>
              <a:p>
                <a:pPr marL="171450" lvl="0" indent="-171450">
                  <a:buClr>
                    <a:schemeClr val="accent1"/>
                  </a:buClr>
                  <a:buSzPts val="1100"/>
                  <a:buFont typeface="Courier New" panose="02070309020205020404" pitchFamily="49" charset="0"/>
                  <a:buChar char="o"/>
                </a:pPr>
                <a:r>
                  <a:rPr lang="en-US" sz="1200" dirty="0"/>
                  <a:t>Most intuitive physics work: rigid bodies, blocks, collisions</a:t>
                </a:r>
              </a:p>
              <a:p>
                <a:pPr marL="171450" lvl="0" indent="-171450">
                  <a:buClr>
                    <a:schemeClr val="accent1"/>
                  </a:buClr>
                  <a:buSzPts val="1100"/>
                  <a:buFont typeface="Courier New" panose="02070309020205020404" pitchFamily="49" charset="0"/>
                  <a:buChar char="o"/>
                </a:pPr>
                <a:r>
                  <a:rPr lang="en-US" sz="1200" dirty="0"/>
                  <a:t>Many real environments are full of soft like objects: clothes, food, pillows, plants, bodies, etc.</a:t>
                </a:r>
              </a:p>
              <a:p>
                <a:pPr marL="171450" lvl="0" indent="-171450">
                  <a:buClr>
                    <a:schemeClr val="accent1"/>
                  </a:buClr>
                  <a:buSzPts val="1100"/>
                  <a:buFont typeface="Courier New" panose="02070309020205020404" pitchFamily="49" charset="0"/>
                  <a:buChar char="o"/>
                </a:pPr>
                <a:r>
                  <a:rPr lang="en-US" sz="1200" dirty="0"/>
                  <a:t>Soft materials are harder visually</a:t>
                </a:r>
              </a:p>
              <a:p>
                <a:pPr marL="171450" lvl="0" indent="-171450">
                  <a:buClr>
                    <a:schemeClr val="accent1"/>
                  </a:buClr>
                  <a:buSzPts val="1100"/>
                  <a:buFont typeface="Courier New" panose="02070309020205020404" pitchFamily="49" charset="0"/>
                  <a:buChar char="o"/>
                </a:pPr>
                <a:r>
                  <a:rPr lang="en-US" sz="1200" dirty="0"/>
                  <a:t>If inverse physics works here, it’s strong evidence that material perception uses latent causal structure, not just motion templates.</a:t>
                </a:r>
              </a:p>
            </p:txBody>
          </p:sp>
        </mc:Choice>
        <mc:Fallback>
          <p:sp>
            <p:nvSpPr>
              <p:cNvPr id="681" name="Google Shape;681;p71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29450" y="1294950"/>
                <a:ext cx="3566100" cy="2872200"/>
              </a:xfrm>
              <a:prstGeom prst="rect">
                <a:avLst/>
              </a:prstGeom>
              <a:blipFill>
                <a:blip r:embed="rId3"/>
                <a:stretch>
                  <a:fillRect b="-162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2" name="Google Shape;682;p71"/>
              <p:cNvSpPr txBox="1">
                <a:spLocks noGrp="1"/>
              </p:cNvSpPr>
              <p:nvPr>
                <p:ph type="body" idx="2"/>
              </p:nvPr>
            </p:nvSpPr>
            <p:spPr>
              <a:xfrm>
                <a:off x="4572850" y="1294950"/>
                <a:ext cx="3566100" cy="28722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dirty="0"/>
                  <a:t>Future work:</a:t>
                </a:r>
              </a:p>
              <a:p>
                <a:pPr marL="171450" lvl="0" indent="-171450" algn="l" rtl="0">
                  <a:spcBef>
                    <a:spcPts val="0"/>
                  </a:spcBef>
                  <a:spcAft>
                    <a:spcPts val="0"/>
                  </a:spcAft>
                  <a:buFont typeface="Courier New" panose="02070309020205020404" pitchFamily="49" charset="0"/>
                  <a:buChar char="o"/>
                </a:pPr>
                <a:r>
                  <a:rPr lang="en-US" sz="1200" dirty="0"/>
                  <a:t>Diagnostic 2AFC design</a:t>
                </a:r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Target T, tests A &amp; B:</a:t>
                </a:r>
              </a:p>
              <a:p>
                <a:pPr marL="1085850" lvl="2" indent="-17145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A: same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200" dirty="0"/>
                  <a:t>, different nuisance (initial shape, force)</a:t>
                </a:r>
              </a:p>
              <a:p>
                <a:pPr marL="1085850" lvl="2" indent="-17145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B: different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1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200" dirty="0"/>
                  <a:t> feature matched</a:t>
                </a:r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Model 1 </a:t>
                </a:r>
                <a:r>
                  <a:rPr lang="en-US" sz="1200" dirty="0">
                    <a:sym typeface="Wingdings" pitchFamily="2" charset="2"/>
                  </a:rPr>
                  <a:t> pick A, Model 2  pick B</a:t>
                </a:r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r>
                  <a:rPr lang="en-US" sz="1200" dirty="0">
                    <a:sym typeface="Wingdings" pitchFamily="2" charset="2"/>
                  </a:rPr>
                  <a:t>Ask: which way do humans go?</a:t>
                </a:r>
                <a:endParaRPr lang="en-US" sz="1200" dirty="0"/>
              </a:p>
            </p:txBody>
          </p:sp>
        </mc:Choice>
        <mc:Fallback>
          <p:sp>
            <p:nvSpPr>
              <p:cNvPr id="682" name="Google Shape;682;p71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4572850" y="1294950"/>
                <a:ext cx="3566100" cy="2872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F82C04A-7CE7-3ADA-692C-A74DBCC7B2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4907" y="2482473"/>
            <a:ext cx="3164094" cy="3164094"/>
          </a:xfrm>
          <a:prstGeom prst="rect">
            <a:avLst/>
          </a:prstGeom>
        </p:spPr>
      </p:pic>
      <p:pic>
        <p:nvPicPr>
          <p:cNvPr id="14" name="Picture 1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F15013F-80E4-2E59-7ECD-B8226FA695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6414" y="2482473"/>
            <a:ext cx="3396972" cy="3396972"/>
          </a:xfrm>
          <a:prstGeom prst="rect">
            <a:avLst/>
          </a:prstGeom>
        </p:spPr>
      </p:pic>
      <p:pic>
        <p:nvPicPr>
          <p:cNvPr id="16" name="Picture 1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941E4C9-DCD7-4245-AF1F-D155C35F6B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4790" y="2661027"/>
            <a:ext cx="2618049" cy="26180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73"/>
          <p:cNvSpPr txBox="1">
            <a:spLocks noGrp="1"/>
          </p:cNvSpPr>
          <p:nvPr>
            <p:ph type="title"/>
          </p:nvPr>
        </p:nvSpPr>
        <p:spPr>
          <a:xfrm>
            <a:off x="228600" y="1909750"/>
            <a:ext cx="6232800" cy="94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703" name="Google Shape;703;p73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rtfolio">
  <a:themeElements>
    <a:clrScheme name="Simple Light">
      <a:dk1>
        <a:srgbClr val="133817"/>
      </a:dk1>
      <a:lt1>
        <a:srgbClr val="E9EBE8"/>
      </a:lt1>
      <a:dk2>
        <a:srgbClr val="C2C7C0"/>
      </a:dk2>
      <a:lt2>
        <a:srgbClr val="EE7630"/>
      </a:lt2>
      <a:accent1>
        <a:srgbClr val="000000"/>
      </a:accent1>
      <a:accent2>
        <a:srgbClr val="931F1D"/>
      </a:accent2>
      <a:accent3>
        <a:srgbClr val="4F7CAC"/>
      </a:accent3>
      <a:accent4>
        <a:srgbClr val="C287E8"/>
      </a:accent4>
      <a:accent5>
        <a:srgbClr val="563635"/>
      </a:accent5>
      <a:accent6>
        <a:srgbClr val="63A46C"/>
      </a:accent6>
      <a:hlink>
        <a:srgbClr val="B7440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1605</TotalTime>
  <Words>1037</Words>
  <Application>Microsoft Macintosh PowerPoint</Application>
  <PresentationFormat>On-screen Show (16:9)</PresentationFormat>
  <Paragraphs>111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Gowun Batang</vt:lpstr>
      <vt:lpstr>Cambria Math</vt:lpstr>
      <vt:lpstr>Wingdings</vt:lpstr>
      <vt:lpstr>Courier New</vt:lpstr>
      <vt:lpstr>Portfolio</vt:lpstr>
      <vt:lpstr>Inverse Physics for Soft Bodies</vt:lpstr>
      <vt:lpstr>Prior work: Bi et al. cloth </vt:lpstr>
      <vt:lpstr>This project: generalized soft body object</vt:lpstr>
      <vt:lpstr>Two models on the soft-square world</vt:lpstr>
      <vt:lpstr>Minds &amp; next steps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Inverse Physics for Soft Bodies</dc:title>
  <cp:lastModifiedBy>Nordstrom, Shawn</cp:lastModifiedBy>
  <cp:revision>23</cp:revision>
  <dcterms:modified xsi:type="dcterms:W3CDTF">2025-12-04T15:50:18Z</dcterms:modified>
</cp:coreProperties>
</file>